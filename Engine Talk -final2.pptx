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60" r:id="rId5"/>
    <p:sldId id="267" r:id="rId6"/>
    <p:sldId id="261" r:id="rId7"/>
    <p:sldId id="262" r:id="rId8"/>
    <p:sldId id="263" r:id="rId9"/>
    <p:sldId id="264" r:id="rId10"/>
    <p:sldId id="265" r:id="rId11"/>
    <p:sldId id="266" r:id="rId12"/>
    <p:sldId id="272" r:id="rId13"/>
    <p:sldId id="270" r:id="rId14"/>
    <p:sldId id="269" r:id="rId15"/>
  </p:sldIdLst>
  <p:sldSz cx="12192000" cy="6858000"/>
  <p:notesSz cx="6858000" cy="9144000"/>
  <p:embeddedFontLst>
    <p:embeddedFont>
      <p:font typeface="Arial Rounded MT Bold" panose="020F0704030504030204" pitchFamily="34" charset="0"/>
      <p:regular r:id="rId17"/>
    </p:embeddedFont>
    <p:embeddedFont>
      <p:font typeface="Bookman Old Style" panose="02050604050505020204" pitchFamily="18" charset="0"/>
      <p:regular r:id="rId18"/>
      <p:bold r:id="rId19"/>
      <p:italic r:id="rId20"/>
      <p:boldItalic r:id="rId21"/>
    </p:embeddedFont>
    <p:embeddedFont>
      <p:font typeface="Lato" panose="020F0502020204030203" pitchFamily="34" charset="0"/>
      <p:regular r:id="rId22"/>
      <p:bold r:id="rId23"/>
      <p:italic r:id="rId24"/>
      <p:boldItalic r:id="rId25"/>
    </p:embeddedFont>
    <p:embeddedFont>
      <p:font typeface="STXinwei" panose="02010800040101010101" pitchFamily="2" charset="-122"/>
      <p:regular r:id="rId26"/>
    </p:embeddedFont>
    <p:embeddedFont>
      <p:font typeface="STZhongsong" panose="02010600040101010101" pitchFamily="2" charset="-122"/>
      <p:regular r:id="rId27"/>
    </p:embeddedFont>
    <p:embeddedFont>
      <p:font typeface="Syncopate" panose="020B0604020202020204" charset="0"/>
      <p:regular r:id="rId28"/>
      <p:bold r:id="rId29"/>
    </p:embeddedFont>
    <p:embeddedFont>
      <p:font typeface="Urbanist" panose="020B0604020202020204" charset="0"/>
      <p:regular r:id="rId30"/>
      <p:bold r:id="rId31"/>
      <p:italic r:id="rId32"/>
      <p:boldItalic r:id="rId33"/>
    </p:embeddedFont>
    <p:embeddedFont>
      <p:font typeface="Urbanist Black" panose="020B0604020202020204" charset="0"/>
      <p:bold r:id="rId34"/>
      <p:boldItalic r:id="rId35"/>
    </p:embeddedFont>
    <p:embeddedFont>
      <p:font typeface="Urbanist Medium" panose="020B0604020202020204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34BC2F-7829-4EF1-89ED-17A8036EECBF}" v="55" dt="2026-05-22T17:01:20.296"/>
  </p1510:revLst>
</p1510:revInfo>
</file>

<file path=ppt/tableStyles.xml><?xml version="1.0" encoding="utf-8"?>
<a:tblStyleLst xmlns:a="http://schemas.openxmlformats.org/drawingml/2006/main" def="{B26090E7-5C05-4F52-A8F1-729C7F8851A4}">
  <a:tblStyle styleId="{B26090E7-5C05-4F52-A8F1-729C7F8851A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9" Type="http://schemas.openxmlformats.org/officeDocument/2006/relationships/font" Target="fonts/font23.fntdata"/><Relationship Id="rId21" Type="http://schemas.openxmlformats.org/officeDocument/2006/relationships/font" Target="fonts/font5.fntdata"/><Relationship Id="rId34" Type="http://schemas.openxmlformats.org/officeDocument/2006/relationships/font" Target="fonts/font18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font" Target="fonts/font21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font" Target="fonts/font20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font" Target="fonts/font19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openxmlformats.org/officeDocument/2006/relationships/font" Target="fonts/font2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29162" y="4000500"/>
            <a:ext cx="2733675" cy="119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3400663" y="1666875"/>
            <a:ext cx="5390673" cy="98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75" b="1" i="0" u="none" strike="noStrike" cap="none" dirty="0">
                <a:solidFill>
                  <a:srgbClr val="FFFFFF"/>
                </a:solidFill>
                <a:latin typeface="STXinwei" panose="02010800040101010101" pitchFamily="2" charset="-122"/>
                <a:ea typeface="STXinwei" panose="02010800040101010101" pitchFamily="2" charset="-122"/>
                <a:cs typeface="Urbanist"/>
                <a:sym typeface="Urbanist"/>
              </a:rPr>
              <a:t>ENGINE</a:t>
            </a:r>
            <a:r>
              <a:rPr lang="en-US" sz="6375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6375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TALK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3529012" y="2619375"/>
            <a:ext cx="513397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PERFORMANCE • PRESTIGE • POWER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4729162" y="4381499"/>
            <a:ext cx="2924366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Krishna | Chaitanya Bansal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4729162" y="4833936"/>
            <a:ext cx="2988374" cy="259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AUTOMOTIVE WEB PLATFORM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000">
              <a:schemeClr val="bg2">
                <a:lumMod val="60000"/>
                <a:lumOff val="4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uper Cars – News, Reviews, and Spy Shots of the Latest Supercars - Motor  Authority">
            <a:extLst>
              <a:ext uri="{FF2B5EF4-FFF2-40B4-BE49-F238E27FC236}">
                <a16:creationId xmlns:a16="http://schemas.microsoft.com/office/drawing/2014/main" id="{7CC12C13-9414-ADA8-20A6-EBAD324EE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433" y="790575"/>
            <a:ext cx="4163568" cy="3207377"/>
          </a:xfrm>
          <a:prstGeom prst="rect">
            <a:avLst/>
          </a:prstGeom>
        </p:spPr>
      </p:pic>
      <p:sp>
        <p:nvSpPr>
          <p:cNvPr id="98" name="Google Shape;98;p14"/>
          <p:cNvSpPr txBox="1"/>
          <p:nvPr/>
        </p:nvSpPr>
        <p:spPr>
          <a:xfrm>
            <a:off x="800100" y="571500"/>
            <a:ext cx="11361420" cy="43815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01 / PROBLEM STATEMENT</a:t>
            </a:r>
            <a:endParaRPr dirty="0"/>
          </a:p>
        </p:txBody>
      </p:sp>
      <p:sp>
        <p:nvSpPr>
          <p:cNvPr id="99" name="Google Shape;99;p14"/>
          <p:cNvSpPr/>
          <p:nvPr/>
        </p:nvSpPr>
        <p:spPr>
          <a:xfrm>
            <a:off x="571500" y="571500"/>
            <a:ext cx="57150" cy="4381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E9DC3B-20E9-F09B-7F04-4B2945825858}"/>
              </a:ext>
            </a:extLst>
          </p:cNvPr>
          <p:cNvSpPr txBox="1"/>
          <p:nvPr/>
        </p:nvSpPr>
        <p:spPr>
          <a:xfrm>
            <a:off x="571500" y="1390836"/>
            <a:ext cx="6094476" cy="4068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Luxury car enthusiasts lacked a single, premium destination to browse brands, performance specs, and high-res visuals in one immersive interface.</a:t>
            </a:r>
          </a:p>
          <a:p>
            <a:pPr marL="342900" marR="0" lvl="0" indent="-342900" algn="just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  <a:p>
            <a:pPr marL="342900" marR="0" lvl="0" indent="-342900" algn="just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000"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  <a:p>
            <a:pPr marL="342900" indent="-342900" algn="just">
              <a:lnSpc>
                <a:spcPct val="149964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Most existing sites lacked real-time interactivity. Users couldn't visualize car colors live or manage persistent carts without backend accounts.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D2962B-92D0-6CB9-2F8D-3C500FCEC7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3484" y="3557016"/>
            <a:ext cx="5278515" cy="33009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2133599"/>
            <a:ext cx="3524250" cy="288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2395537"/>
            <a:ext cx="3524250" cy="288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6250" y="2395537"/>
            <a:ext cx="3524250" cy="2886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800100" y="571500"/>
            <a:ext cx="11361420" cy="43815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02 / PROJECT OBJECTIVES</a:t>
            </a:r>
            <a:endParaRPr dirty="0"/>
          </a:p>
        </p:txBody>
      </p:sp>
      <p:sp>
        <p:nvSpPr>
          <p:cNvPr id="115" name="Google Shape;115;p15"/>
          <p:cNvSpPr/>
          <p:nvPr/>
        </p:nvSpPr>
        <p:spPr>
          <a:xfrm>
            <a:off x="571500" y="571500"/>
            <a:ext cx="57150" cy="4381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914400" y="3424237"/>
            <a:ext cx="298037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PREMIUM SHOWCASE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14400" y="3910012"/>
            <a:ext cx="2838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Clean, high-performance website for exotic luxury vehicles.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4676775" y="3424237"/>
            <a:ext cx="298037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DYNAMIC FILTERING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676775" y="3910012"/>
            <a:ext cx="2838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Instant sorting by brand, horsepower, or type via JS.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439150" y="3424237"/>
            <a:ext cx="2980372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INTERACTIVE GARAGE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439150" y="4214812"/>
            <a:ext cx="2838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Real-time color configurator and live spec explorer.</a:t>
            </a:r>
            <a:endParaRPr/>
          </a:p>
        </p:txBody>
      </p:sp>
      <p:pic>
        <p:nvPicPr>
          <p:cNvPr id="122" name="Google Shape;12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4400" y="2786062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76775" y="2786062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39150" y="2786062"/>
            <a:ext cx="4191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000">
              <a:schemeClr val="bg2">
                <a:lumMod val="60000"/>
                <a:lumOff val="4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 txBox="1"/>
          <p:nvPr/>
        </p:nvSpPr>
        <p:spPr>
          <a:xfrm>
            <a:off x="800100" y="571500"/>
            <a:ext cx="11361420" cy="43815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03 / USER JOURNEY</a:t>
            </a:r>
            <a:endParaRPr dirty="0"/>
          </a:p>
        </p:txBody>
      </p:sp>
      <p:sp>
        <p:nvSpPr>
          <p:cNvPr id="154" name="Google Shape;154;p17"/>
          <p:cNvSpPr/>
          <p:nvPr/>
        </p:nvSpPr>
        <p:spPr>
          <a:xfrm>
            <a:off x="571500" y="571500"/>
            <a:ext cx="57150" cy="4381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6620979" y="1358407"/>
            <a:ext cx="1988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Secure entry</a:t>
            </a:r>
            <a:endParaRPr sz="1600" dirty="0">
              <a:solidFill>
                <a:schemeClr val="tx1"/>
              </a:solidFill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6777579" y="2390287"/>
            <a:ext cx="1988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Browse</a:t>
            </a:r>
            <a:r>
              <a:rPr lang="en-US" sz="1600" dirty="0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Cars</a:t>
            </a:r>
            <a:endParaRPr sz="1600" dirty="0">
              <a:solidFill>
                <a:schemeClr val="tx1"/>
              </a:solidFill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6010126" y="3545681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5101530" y="4441031"/>
            <a:ext cx="198879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Configure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6777579" y="4637341"/>
            <a:ext cx="1988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Full catalog</a:t>
            </a:r>
            <a:endParaRPr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6620979" y="5679450"/>
            <a:ext cx="1988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Finalize</a:t>
            </a:r>
            <a:endParaRPr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9C1A002-4462-4D7B-5BE1-D82A1E130721}"/>
              </a:ext>
            </a:extLst>
          </p:cNvPr>
          <p:cNvSpPr/>
          <p:nvPr/>
        </p:nvSpPr>
        <p:spPr>
          <a:xfrm>
            <a:off x="4480160" y="1239846"/>
            <a:ext cx="2450592" cy="5471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LOGIN</a:t>
            </a:r>
            <a:endParaRPr lang="en-IN" sz="16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69969D5-EC45-78C4-0B4D-99C37534FE48}"/>
              </a:ext>
            </a:extLst>
          </p:cNvPr>
          <p:cNvSpPr/>
          <p:nvPr/>
        </p:nvSpPr>
        <p:spPr>
          <a:xfrm>
            <a:off x="4480160" y="3447598"/>
            <a:ext cx="2450592" cy="5471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GARAGE</a:t>
            </a: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1DB2E09-91EC-E6BF-B2AF-6FDF77E4C815}"/>
              </a:ext>
            </a:extLst>
          </p:cNvPr>
          <p:cNvSpPr/>
          <p:nvPr/>
        </p:nvSpPr>
        <p:spPr>
          <a:xfrm>
            <a:off x="4487760" y="4541235"/>
            <a:ext cx="2450592" cy="5471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SELECTION</a:t>
            </a:r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9774915-D009-9A84-E3F3-FB5257075A96}"/>
              </a:ext>
            </a:extLst>
          </p:cNvPr>
          <p:cNvSpPr/>
          <p:nvPr/>
        </p:nvSpPr>
        <p:spPr>
          <a:xfrm>
            <a:off x="4487760" y="2305170"/>
            <a:ext cx="2450592" cy="5471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SHOWROOM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DE267B9-F3FD-5717-3518-A6A3AA29EAFD}"/>
              </a:ext>
            </a:extLst>
          </p:cNvPr>
          <p:cNvSpPr/>
          <p:nvPr/>
        </p:nvSpPr>
        <p:spPr>
          <a:xfrm>
            <a:off x="4487760" y="5626442"/>
            <a:ext cx="2450592" cy="5471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CHECKOUT</a:t>
            </a:r>
            <a:endParaRPr lang="en-IN" dirty="0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B66ECCA0-DF05-0EAD-5F93-93CA0D16D7FF}"/>
              </a:ext>
            </a:extLst>
          </p:cNvPr>
          <p:cNvSpPr/>
          <p:nvPr/>
        </p:nvSpPr>
        <p:spPr>
          <a:xfrm>
            <a:off x="5568696" y="1786962"/>
            <a:ext cx="441430" cy="5182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418796F4-9EBB-C25F-47FF-CF8F7C025C7E}"/>
              </a:ext>
            </a:extLst>
          </p:cNvPr>
          <p:cNvSpPr/>
          <p:nvPr/>
        </p:nvSpPr>
        <p:spPr>
          <a:xfrm>
            <a:off x="5452077" y="4023027"/>
            <a:ext cx="441430" cy="5182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72F306B7-CDC7-B41C-9821-46BF8DB8ACCC}"/>
              </a:ext>
            </a:extLst>
          </p:cNvPr>
          <p:cNvSpPr/>
          <p:nvPr/>
        </p:nvSpPr>
        <p:spPr>
          <a:xfrm>
            <a:off x="5492341" y="2859833"/>
            <a:ext cx="441430" cy="5182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69B65454-7FCA-D2D5-41B2-EF08B1011377}"/>
              </a:ext>
            </a:extLst>
          </p:cNvPr>
          <p:cNvSpPr/>
          <p:nvPr/>
        </p:nvSpPr>
        <p:spPr>
          <a:xfrm>
            <a:off x="5445749" y="5079326"/>
            <a:ext cx="441430" cy="5182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Google Shape;167;p17">
            <a:extLst>
              <a:ext uri="{FF2B5EF4-FFF2-40B4-BE49-F238E27FC236}">
                <a16:creationId xmlns:a16="http://schemas.microsoft.com/office/drawing/2014/main" id="{27A706B3-6CD5-6C2C-CBBA-E6DD5210C7A6}"/>
              </a:ext>
            </a:extLst>
          </p:cNvPr>
          <p:cNvSpPr txBox="1"/>
          <p:nvPr/>
        </p:nvSpPr>
        <p:spPr>
          <a:xfrm>
            <a:off x="6777579" y="3545681"/>
            <a:ext cx="19887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Customize Cars</a:t>
            </a:r>
            <a:endParaRPr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4"/>
          <p:cNvSpPr txBox="1"/>
          <p:nvPr/>
        </p:nvSpPr>
        <p:spPr>
          <a:xfrm>
            <a:off x="800100" y="571500"/>
            <a:ext cx="11361420" cy="43815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04 / CHALLENGES &amp; RESOLUTIONS</a:t>
            </a:r>
            <a:endParaRPr dirty="0"/>
          </a:p>
        </p:txBody>
      </p:sp>
      <p:sp>
        <p:nvSpPr>
          <p:cNvPr id="291" name="Google Shape;291;p24"/>
          <p:cNvSpPr/>
          <p:nvPr/>
        </p:nvSpPr>
        <p:spPr>
          <a:xfrm>
            <a:off x="571500" y="571500"/>
            <a:ext cx="57150" cy="4381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2" name="Google Shape;292;p24"/>
          <p:cNvGraphicFramePr/>
          <p:nvPr>
            <p:extLst>
              <p:ext uri="{D42A27DB-BD31-4B8C-83A1-F6EECF244321}">
                <p14:modId xmlns:p14="http://schemas.microsoft.com/office/powerpoint/2010/main" val="1464993039"/>
              </p:ext>
            </p:extLst>
          </p:nvPr>
        </p:nvGraphicFramePr>
        <p:xfrm>
          <a:off x="628650" y="2002537"/>
          <a:ext cx="11062716" cy="3383279"/>
        </p:xfrm>
        <a:graphic>
          <a:graphicData uri="http://schemas.openxmlformats.org/drawingml/2006/table">
            <a:tbl>
              <a:tblPr firstRow="1" bandRow="1">
                <a:noFill/>
                <a:tableStyleId>{B26090E7-5C05-4F52-A8F1-729C7F8851A4}</a:tableStyleId>
              </a:tblPr>
              <a:tblGrid>
                <a:gridCol w="27034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64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9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16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DEFF9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Challenge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DEFF9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Resolution Strategy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DEFF9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Outcome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103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State Persistence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Bookman Old Style" panose="02050604050505020204" pitchFamily="18" charset="0"/>
                        </a:rPr>
                        <a:t>Implementation of a unified 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Bookman Old Style" panose="02050604050505020204" pitchFamily="18" charset="0"/>
                          <a:ea typeface="Calibri"/>
                          <a:cs typeface="Calibri"/>
                          <a:sym typeface="Arial"/>
                        </a:rPr>
                        <a:t>local Storage</a:t>
                      </a:r>
                      <a:r>
                        <a:rPr lang="en-US" sz="1200" dirty="0">
                          <a:latin typeface="Bookman Old Style" panose="02050604050505020204" pitchFamily="18" charset="0"/>
                        </a:rPr>
                        <a:t> architecture using the 'cart' key.</a:t>
                      </a:r>
                      <a:endParaRPr dirty="0">
                        <a:solidFill>
                          <a:schemeClr val="tx1"/>
                        </a:solidFill>
                        <a:latin typeface="Bookman Old Style" panose="020506040505050202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Bookman Old Style" panose="02050604050505020204" pitchFamily="18" charset="0"/>
                        </a:rPr>
                        <a:t>Achieved seamless session continuity and persistent user carts without backend overhead.</a:t>
                      </a:r>
                      <a:endParaRPr dirty="0">
                        <a:solidFill>
                          <a:schemeClr val="tx1"/>
                        </a:solidFill>
                        <a:latin typeface="Bookman Old Style" panose="020506040505050202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103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/>
                        <a:t>UI Fluidity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Bookman Old Style" panose="02050604050505020204" pitchFamily="18" charset="0"/>
                        </a:rPr>
                        <a:t>Engineered asynchronous CSS transitions and JS-driven DOM manipulation.</a:t>
                      </a:r>
                      <a:endParaRPr lang="en-IN" dirty="0">
                        <a:latin typeface="Bookman Old Style" panose="02050604050505020204" pitchFamily="18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Bookman Old Style" panose="02050604050505020204" pitchFamily="18" charset="0"/>
                        </a:rPr>
                        <a:t>Delivered a "Zero-Reload" experience with sub-300ms visual state transitions.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103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Visual Performance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Bookman Old Style" panose="02050604050505020204" pitchFamily="18" charset="0"/>
                        </a:rPr>
                        <a:t>Optimization of heavy CSS filters and neon effects via media-query targeting.</a:t>
                      </a:r>
                      <a:endParaRPr dirty="0">
                        <a:solidFill>
                          <a:schemeClr val="tx1"/>
                        </a:solidFill>
                        <a:latin typeface="Bookman Old Style" panose="020506040505050202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Bookman Old Style" panose="02050604050505020204" pitchFamily="18" charset="0"/>
                        </a:rPr>
                        <a:t>Maintained 60FPS performance and high visual fidelity across varying hardware.</a:t>
                      </a:r>
                      <a:endParaRPr dirty="0">
                        <a:solidFill>
                          <a:schemeClr val="tx1"/>
                        </a:solidFill>
                        <a:latin typeface="Bookman Old Style" panose="02050604050505020204" pitchFamily="18" charset="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000">
              <a:schemeClr val="bg2">
                <a:lumMod val="60000"/>
                <a:lumOff val="4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571500"/>
            <a:ext cx="5286375" cy="5172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800100" y="571500"/>
            <a:ext cx="11361420" cy="438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P1 / LOGIN &amp; </a:t>
            </a:r>
            <a:r>
              <a:rPr lang="en-US" sz="2850" b="1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REGISTRATION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571500" y="571500"/>
            <a:ext cx="57150" cy="4381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571500" y="2626518"/>
            <a:ext cx="555069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DEFF9A"/>
                </a:solidFill>
                <a:latin typeface="STZhongsong" panose="02010600040101010101" pitchFamily="2" charset="-122"/>
                <a:ea typeface="STZhongsong" panose="02010600040101010101" pitchFamily="2" charset="-122"/>
                <a:cs typeface="Urbanist"/>
                <a:sym typeface="Urbanist"/>
              </a:rPr>
              <a:t>SECURE ACCESS MODE</a:t>
            </a:r>
            <a:endParaRPr dirty="0">
              <a:latin typeface="STZhongsong" panose="02010600040101010101" pitchFamily="2" charset="-122"/>
              <a:ea typeface="STZhongsong" panose="02010600040101010101" pitchFamily="2" charset="-122"/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822960" y="3092767"/>
            <a:ext cx="5000625" cy="2954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lvl="0" indent="-285750">
              <a:lnSpc>
                <a:spcPct val="149964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create a new account and log in securely</a:t>
            </a:r>
          </a:p>
          <a:p>
            <a:pPr marL="285750" lvl="0" indent="-285750">
              <a:lnSpc>
                <a:spcPct val="149964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Stores user credentials using browser Local Storage</a:t>
            </a:r>
          </a:p>
          <a:p>
            <a:pPr marL="285750" lvl="0" indent="-285750">
              <a:lnSpc>
                <a:spcPct val="149964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Performs real-time input validation for better accuracy</a:t>
            </a:r>
          </a:p>
          <a:p>
            <a:pPr marL="285750" indent="-285750">
              <a:lnSpc>
                <a:spcPct val="149964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Maintains user session even after page refresh Modern dark-themed interface with smooth animations </a:t>
            </a:r>
          </a:p>
          <a:p>
            <a:pPr marL="285750" lvl="0" indent="-285750">
              <a:lnSpc>
                <a:spcPct val="149964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redirects authenticated users to the homepage</a:t>
            </a:r>
          </a:p>
          <a:p>
            <a:pPr marL="285750" lvl="0" indent="-285750">
              <a:lnSpc>
                <a:spcPct val="149964"/>
              </a:lnSpc>
              <a:buFont typeface="Arial" panose="020B0604020202020204" pitchFamily="34" charset="0"/>
              <a:buChar char="•"/>
            </a:pPr>
            <a:endParaRPr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34ACF8-ECD8-C331-9128-F74CA8C1C0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9365" y="1009650"/>
            <a:ext cx="5286375" cy="55831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3424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/>
        </p:nvSpPr>
        <p:spPr>
          <a:xfrm>
            <a:off x="122492" y="386706"/>
            <a:ext cx="5135308" cy="43858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P2 / SHOWROOM EXPERIENCE</a:t>
            </a:r>
            <a:endParaRPr dirty="0"/>
          </a:p>
        </p:txBody>
      </p:sp>
      <p:sp>
        <p:nvSpPr>
          <p:cNvPr id="198" name="Google Shape;198;p19"/>
          <p:cNvSpPr txBox="1"/>
          <p:nvPr/>
        </p:nvSpPr>
        <p:spPr>
          <a:xfrm>
            <a:off x="447675" y="1428654"/>
            <a:ext cx="52006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DEFF9A"/>
                </a:solidFill>
                <a:latin typeface="Arial Rounded MT Bold" panose="020F0704030504030204" pitchFamily="34" charset="0"/>
                <a:ea typeface="STXingkai" panose="02010800040101010101" pitchFamily="2" charset="-122"/>
                <a:cs typeface="Urbanist"/>
                <a:sym typeface="Urbanist"/>
              </a:rPr>
              <a:t>THE</a:t>
            </a:r>
            <a:r>
              <a:rPr lang="en-US" sz="1950" b="1" i="0" u="none" strike="noStrike" cap="none" dirty="0">
                <a:solidFill>
                  <a:srgbClr val="DEFF9A"/>
                </a:solidFill>
                <a:latin typeface="Arial Rounded MT Bold" panose="020F0704030504030204" pitchFamily="34" charset="0"/>
                <a:ea typeface="Urbanist"/>
                <a:cs typeface="Urbanist"/>
                <a:sym typeface="Urbanist"/>
              </a:rPr>
              <a:t> HOMEPAGE</a:t>
            </a:r>
            <a:endParaRPr dirty="0">
              <a:latin typeface="Arial Rounded MT Bold" panose="020F0704030504030204" pitchFamily="34" charset="0"/>
            </a:endParaRPr>
          </a:p>
        </p:txBody>
      </p:sp>
      <p:sp>
        <p:nvSpPr>
          <p:cNvPr id="204" name="Google Shape;204;p19"/>
          <p:cNvSpPr txBox="1"/>
          <p:nvPr/>
        </p:nvSpPr>
        <p:spPr>
          <a:xfrm>
            <a:off x="358139" y="2296208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 dirty="0"/>
          </a:p>
        </p:txBody>
      </p:sp>
      <p:sp>
        <p:nvSpPr>
          <p:cNvPr id="206" name="Google Shape;206;p19"/>
          <p:cNvSpPr txBox="1"/>
          <p:nvPr/>
        </p:nvSpPr>
        <p:spPr>
          <a:xfrm>
            <a:off x="348611" y="4446646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 dirty="0"/>
          </a:p>
        </p:txBody>
      </p:sp>
      <p:sp>
        <p:nvSpPr>
          <p:cNvPr id="207" name="Google Shape;207;p19"/>
          <p:cNvSpPr txBox="1"/>
          <p:nvPr/>
        </p:nvSpPr>
        <p:spPr>
          <a:xfrm>
            <a:off x="348611" y="3306199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732050-AB88-E37F-2B46-CD5FEA3A49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8979" y="1151297"/>
            <a:ext cx="8097961" cy="51662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3EF1C0-B60F-6FF3-9A51-82954E10554F}"/>
              </a:ext>
            </a:extLst>
          </p:cNvPr>
          <p:cNvSpPr txBox="1"/>
          <p:nvPr/>
        </p:nvSpPr>
        <p:spPr>
          <a:xfrm>
            <a:off x="714375" y="2268731"/>
            <a:ext cx="3099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Full-screen hero section with animated tagline entrance</a:t>
            </a:r>
            <a:endParaRPr lang="en-IN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0C6658-F8CB-3240-4529-5458D92DFD3A}"/>
              </a:ext>
            </a:extLst>
          </p:cNvPr>
          <p:cNvSpPr txBox="1"/>
          <p:nvPr/>
        </p:nvSpPr>
        <p:spPr>
          <a:xfrm>
            <a:off x="714375" y="3271409"/>
            <a:ext cx="27195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Featured Cars grid with curated top performance models</a:t>
            </a:r>
            <a:endParaRPr lang="en-IN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5A2618-20AC-31DA-25CE-0371FACE3909}"/>
              </a:ext>
            </a:extLst>
          </p:cNvPr>
          <p:cNvSpPr txBox="1"/>
          <p:nvPr/>
        </p:nvSpPr>
        <p:spPr>
          <a:xfrm>
            <a:off x="714375" y="4446646"/>
            <a:ext cx="22665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Sticky navigation with cart count badge</a:t>
            </a:r>
            <a:endParaRPr lang="en-IN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000">
              <a:schemeClr val="bg2">
                <a:lumMod val="60000"/>
                <a:lumOff val="4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0"/>
          <p:cNvSpPr txBox="1"/>
          <p:nvPr/>
        </p:nvSpPr>
        <p:spPr>
          <a:xfrm>
            <a:off x="800100" y="571500"/>
            <a:ext cx="11361420" cy="43815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chemeClr val="bg1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P3 / DISCOVERY ENGINE</a:t>
            </a:r>
            <a:endParaRPr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571500" y="571500"/>
            <a:ext cx="57150" cy="4381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6334125" y="2443162"/>
            <a:ext cx="555069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FFC000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INTELLIGENT CATALOG</a:t>
            </a:r>
            <a:endParaRPr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6334125" y="2928937"/>
            <a:ext cx="528637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A high-fidelity grid featuring 12 exotic models with real-time DOM filtering.</a:t>
            </a:r>
          </a:p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6619875" y="3652837"/>
            <a:ext cx="5000625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Multi-criteria filtering: Brand, Type, HP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6619875" y="4038600"/>
            <a:ext cx="5000625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No-reload instant UI re-renders</a:t>
            </a: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6619875" y="4424362"/>
            <a:ext cx="5000625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Responsive grid (3-col to 1-col mobile)</a:t>
            </a: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6619875" y="4810125"/>
            <a:ext cx="5000625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Detailed car cards with live pricing</a:t>
            </a: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6334125" y="3652837"/>
            <a:ext cx="180975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◈</a:t>
            </a: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6334125" y="4038600"/>
            <a:ext cx="180975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◈</a:t>
            </a: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6334125" y="4424362"/>
            <a:ext cx="180975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◈</a:t>
            </a: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6334125" y="4810125"/>
            <a:ext cx="180975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◈</a:t>
            </a: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B60658-6CC3-B7E0-99A2-2FB46BCD2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45310"/>
            <a:ext cx="4956876" cy="44865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048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1"/>
          <p:cNvSpPr txBox="1"/>
          <p:nvPr/>
        </p:nvSpPr>
        <p:spPr>
          <a:xfrm>
            <a:off x="441483" y="571500"/>
            <a:ext cx="11361420" cy="43815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P4 / INTERACTIVE GARAGE</a:t>
            </a:r>
            <a:endParaRPr dirty="0"/>
          </a:p>
        </p:txBody>
      </p:sp>
      <p:sp>
        <p:nvSpPr>
          <p:cNvPr id="237" name="Google Shape;237;p21"/>
          <p:cNvSpPr txBox="1"/>
          <p:nvPr/>
        </p:nvSpPr>
        <p:spPr>
          <a:xfrm>
            <a:off x="571500" y="2626518"/>
            <a:ext cx="555069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REAL-TIME PERSONALIZATION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857250" y="3083718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Flagship brands: Porsche, Ferrari, McLaren</a:t>
            </a:r>
            <a:endParaRPr dirty="0"/>
          </a:p>
        </p:txBody>
      </p:sp>
      <p:sp>
        <p:nvSpPr>
          <p:cNvPr id="240" name="Google Shape;240;p21"/>
          <p:cNvSpPr txBox="1"/>
          <p:nvPr/>
        </p:nvSpPr>
        <p:spPr>
          <a:xfrm>
            <a:off x="857250" y="3469481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3 custom paint colors with live previews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857250" y="3855243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Async fade transitions for smooth swapping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857250" y="4241006"/>
            <a:ext cx="50006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Dynamic spec panel updates on-the-fly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857250" y="4626768"/>
            <a:ext cx="5000625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D1D1D1"/>
                </a:solidFill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  <a:t>Direct "Add to Garage" cart integration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571500" y="3083718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571500" y="3469481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571500" y="3855243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571500" y="4241006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571500" y="4626768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6870A8-337D-808B-AB2F-7844828245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2650" y="1197864"/>
            <a:ext cx="53721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000">
              <a:schemeClr val="bg2">
                <a:lumMod val="60000"/>
                <a:lumOff val="4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2"/>
          <p:cNvSpPr txBox="1"/>
          <p:nvPr/>
        </p:nvSpPr>
        <p:spPr>
          <a:xfrm>
            <a:off x="800100" y="571500"/>
            <a:ext cx="11361420" cy="438150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chemeClr val="bg1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P5 / CART MANAGEMENT</a:t>
            </a:r>
            <a:endParaRPr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571500" y="571500"/>
            <a:ext cx="57150" cy="4381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58" name="Google Shape;258;p22"/>
          <p:cNvSpPr txBox="1"/>
          <p:nvPr/>
        </p:nvSpPr>
        <p:spPr>
          <a:xfrm>
            <a:off x="6334125" y="2228850"/>
            <a:ext cx="555069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FFC000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MY GARAGE SELECTION</a:t>
            </a:r>
            <a:endParaRPr sz="20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9" name="Google Shape;259;p22"/>
          <p:cNvSpPr txBox="1"/>
          <p:nvPr/>
        </p:nvSpPr>
        <p:spPr>
          <a:xfrm>
            <a:off x="6334125" y="2714625"/>
            <a:ext cx="52863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A transparent staging area where users review their tailored builds before checking out.</a:t>
            </a:r>
            <a:endParaRPr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0" name="Google Shape;260;p22"/>
          <p:cNvSpPr txBox="1"/>
          <p:nvPr/>
        </p:nvSpPr>
        <p:spPr>
          <a:xfrm>
            <a:off x="6619875" y="3438525"/>
            <a:ext cx="5000625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Persistent Summary:</a:t>
            </a:r>
            <a:r>
              <a:rPr lang="en-US" sz="1425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Syncs configured car details, selected paint finishes, and custom specs.</a:t>
            </a: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1" name="Google Shape;261;p22"/>
          <p:cNvSpPr txBox="1"/>
          <p:nvPr/>
        </p:nvSpPr>
        <p:spPr>
          <a:xfrm>
            <a:off x="6619875" y="4095750"/>
            <a:ext cx="5000625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Live Total Matrix:</a:t>
            </a:r>
            <a:r>
              <a:rPr lang="en-US" sz="1425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Instant multi-item price addition calculations directly inside the DOM.</a:t>
            </a: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2" name="Google Shape;262;p22"/>
          <p:cNvSpPr txBox="1"/>
          <p:nvPr/>
        </p:nvSpPr>
        <p:spPr>
          <a:xfrm>
            <a:off x="6619875" y="4752975"/>
            <a:ext cx="5000625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Frictionless Pruning:</a:t>
            </a:r>
            <a:r>
              <a:rPr lang="en-US" sz="1425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 Dynamic item removals with low-latency smooth layout transitions.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3" name="Google Shape;263;p22"/>
          <p:cNvSpPr txBox="1"/>
          <p:nvPr/>
        </p:nvSpPr>
        <p:spPr>
          <a:xfrm>
            <a:off x="6334125" y="3438525"/>
            <a:ext cx="180975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◈</a:t>
            </a: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4" name="Google Shape;264;p22"/>
          <p:cNvSpPr txBox="1"/>
          <p:nvPr/>
        </p:nvSpPr>
        <p:spPr>
          <a:xfrm>
            <a:off x="6334125" y="4095750"/>
            <a:ext cx="180975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◈</a:t>
            </a: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5" name="Google Shape;265;p22"/>
          <p:cNvSpPr txBox="1"/>
          <p:nvPr/>
        </p:nvSpPr>
        <p:spPr>
          <a:xfrm>
            <a:off x="6334125" y="4752975"/>
            <a:ext cx="180975" cy="32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chemeClr val="tx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◈</a:t>
            </a:r>
            <a:endParaRPr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72CA13-2936-3E5F-0382-042B4A52FF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62" y="1874520"/>
            <a:ext cx="5901113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3"/>
          <p:cNvSpPr txBox="1"/>
          <p:nvPr/>
        </p:nvSpPr>
        <p:spPr>
          <a:xfrm>
            <a:off x="571500" y="571500"/>
            <a:ext cx="5200650" cy="438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P6 / PREMIUM PAYMENT UI</a:t>
            </a:r>
            <a:endParaRPr dirty="0"/>
          </a:p>
        </p:txBody>
      </p:sp>
      <p:sp>
        <p:nvSpPr>
          <p:cNvPr id="273" name="Google Shape;273;p23"/>
          <p:cNvSpPr txBox="1"/>
          <p:nvPr/>
        </p:nvSpPr>
        <p:spPr>
          <a:xfrm>
            <a:off x="571500" y="2986087"/>
            <a:ext cx="49530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A secure checkout flow designed for high-trust premium automotive acquisitions.</a:t>
            </a:r>
            <a:endParaRPr/>
          </a:p>
        </p:txBody>
      </p:sp>
      <p:pic>
        <p:nvPicPr>
          <p:cNvPr id="274" name="Google Shape;274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4311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3"/>
          <p:cNvSpPr txBox="1"/>
          <p:nvPr/>
        </p:nvSpPr>
        <p:spPr>
          <a:xfrm>
            <a:off x="1333500" y="2193131"/>
            <a:ext cx="19812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Frictionless Transactions</a:t>
            </a:r>
            <a:endParaRPr/>
          </a:p>
        </p:txBody>
      </p:sp>
      <p:sp>
        <p:nvSpPr>
          <p:cNvPr id="276" name="Google Shape;276;p23"/>
          <p:cNvSpPr txBox="1"/>
          <p:nvPr/>
        </p:nvSpPr>
        <p:spPr>
          <a:xfrm>
            <a:off x="857250" y="3967162"/>
            <a:ext cx="466725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Cart validated globally via 'et_cart' state string</a:t>
            </a:r>
            <a:endParaRPr/>
          </a:p>
        </p:txBody>
      </p:sp>
      <p:sp>
        <p:nvSpPr>
          <p:cNvPr id="277" name="Google Shape;277;p23"/>
          <p:cNvSpPr txBox="1"/>
          <p:nvPr/>
        </p:nvSpPr>
        <p:spPr>
          <a:xfrm>
            <a:off x="857250" y="4352925"/>
            <a:ext cx="466725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Interactive layout matching premium payment styles</a:t>
            </a:r>
            <a:endParaRPr/>
          </a:p>
        </p:txBody>
      </p:sp>
      <p:sp>
        <p:nvSpPr>
          <p:cNvPr id="278" name="Google Shape;278;p23"/>
          <p:cNvSpPr txBox="1"/>
          <p:nvPr/>
        </p:nvSpPr>
        <p:spPr>
          <a:xfrm>
            <a:off x="857250" y="4738687"/>
            <a:ext cx="466725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Neon error alerts on blank or malformed input</a:t>
            </a:r>
            <a:endParaRPr/>
          </a:p>
        </p:txBody>
      </p:sp>
      <p:sp>
        <p:nvSpPr>
          <p:cNvPr id="279" name="Google Shape;279;p23"/>
          <p:cNvSpPr txBox="1"/>
          <p:nvPr/>
        </p:nvSpPr>
        <p:spPr>
          <a:xfrm>
            <a:off x="857250" y="5124450"/>
            <a:ext cx="466725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1D1D1"/>
                </a:solidFill>
                <a:latin typeface="Lato"/>
                <a:ea typeface="Lato"/>
                <a:cs typeface="Lato"/>
                <a:sym typeface="Lato"/>
              </a:rPr>
              <a:t>Automated success gateway landing mechanics</a:t>
            </a:r>
            <a:endParaRPr/>
          </a:p>
        </p:txBody>
      </p:sp>
      <p:pic>
        <p:nvPicPr>
          <p:cNvPr id="280" name="Google Shape;280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4850" y="2195512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3"/>
          <p:cNvSpPr txBox="1"/>
          <p:nvPr/>
        </p:nvSpPr>
        <p:spPr>
          <a:xfrm>
            <a:off x="571500" y="3967162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/>
          </a:p>
        </p:txBody>
      </p:sp>
      <p:sp>
        <p:nvSpPr>
          <p:cNvPr id="282" name="Google Shape;282;p23"/>
          <p:cNvSpPr txBox="1"/>
          <p:nvPr/>
        </p:nvSpPr>
        <p:spPr>
          <a:xfrm>
            <a:off x="571500" y="4352925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/>
          </a:p>
        </p:txBody>
      </p:sp>
      <p:sp>
        <p:nvSpPr>
          <p:cNvPr id="283" name="Google Shape;283;p23"/>
          <p:cNvSpPr txBox="1"/>
          <p:nvPr/>
        </p:nvSpPr>
        <p:spPr>
          <a:xfrm>
            <a:off x="571500" y="4738687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/>
          </a:p>
        </p:txBody>
      </p:sp>
      <p:sp>
        <p:nvSpPr>
          <p:cNvPr id="284" name="Google Shape;284;p23"/>
          <p:cNvSpPr txBox="1"/>
          <p:nvPr/>
        </p:nvSpPr>
        <p:spPr>
          <a:xfrm>
            <a:off x="571500" y="5124450"/>
            <a:ext cx="1809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◈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E55BF7-14DA-4C8A-C86A-4A9371DF40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852" y="571500"/>
            <a:ext cx="4302633" cy="56868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000">
              <a:schemeClr val="bg2">
                <a:lumMod val="60000"/>
                <a:lumOff val="4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1"/>
          <p:cNvSpPr txBox="1"/>
          <p:nvPr/>
        </p:nvSpPr>
        <p:spPr>
          <a:xfrm>
            <a:off x="381000" y="762000"/>
            <a:ext cx="5400675" cy="48577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chemeClr val="bg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P7 / </a:t>
            </a:r>
            <a:r>
              <a:rPr lang="en-US" sz="3150" b="1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AI CONCIERGE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571499" y="1676399"/>
            <a:ext cx="521017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FC000"/>
                </a:solidFill>
                <a:latin typeface="Times New Roman" panose="02020603050405020304" pitchFamily="18" charset="0"/>
                <a:ea typeface="Urbanist SemiBold"/>
                <a:cs typeface="Times New Roman" panose="02020603050405020304" pitchFamily="18" charset="0"/>
                <a:sym typeface="Urbanist SemiBold"/>
              </a:rPr>
              <a:t>Intelligent API Integration</a:t>
            </a:r>
            <a:endParaRPr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571500" y="2143125"/>
            <a:ext cx="4953000" cy="1052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Engine Talk now features a sophisticated AI Chatbot powered by state-of-the-art Large Language Models to assist users throughout their journey.</a:t>
            </a:r>
            <a:endParaRPr b="1" dirty="0">
              <a:solidFill>
                <a:schemeClr val="tx1"/>
              </a:solidFill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904875" y="3297287"/>
            <a:ext cx="4619625" cy="70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24/7 Expert Support:</a:t>
            </a:r>
            <a:r>
              <a:rPr lang="en-US" sz="1425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Instant answers to technical specifications and model availability.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904875" y="4066728"/>
            <a:ext cx="4619625" cy="70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Personalized Discovery:</a:t>
            </a:r>
            <a:r>
              <a:rPr lang="en-US" sz="1425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Suggests exotic vehicles based on unique performance profiles.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790003" y="5007197"/>
            <a:ext cx="4619625" cy="70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Seamless Handover:</a:t>
            </a:r>
            <a:r>
              <a:rPr lang="en-US" sz="1425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 Direct connection to specialist support for bespoke acquisitions.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571500" y="3278237"/>
            <a:ext cx="20955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◈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571500" y="4047678"/>
            <a:ext cx="20955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◈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32" name="Google Shape;232;p21"/>
          <p:cNvSpPr txBox="1"/>
          <p:nvPr/>
        </p:nvSpPr>
        <p:spPr>
          <a:xfrm flipV="1">
            <a:off x="676275" y="5020047"/>
            <a:ext cx="67818" cy="404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◈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24D136-A792-1EC5-B1F8-38DEF85BF6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950" y="383476"/>
            <a:ext cx="4226925" cy="609104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53005-7B2F-ECCF-474F-D90812F09A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836A81-3AE2-6932-C6FA-A481A2B821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Google Shape;260;p24" descr="image.png">
            <a:extLst>
              <a:ext uri="{FF2B5EF4-FFF2-40B4-BE49-F238E27FC236}">
                <a16:creationId xmlns:a16="http://schemas.microsoft.com/office/drawing/2014/main" id="{9F9A1FE4-09E9-B5B2-28D2-7D68053ADD8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144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4"/>
          <p:cNvSpPr txBox="1"/>
          <p:nvPr/>
        </p:nvSpPr>
        <p:spPr>
          <a:xfrm>
            <a:off x="421196" y="666750"/>
            <a:ext cx="4967859" cy="55245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P8 / CONTACT US</a:t>
            </a:r>
            <a:endParaRPr lang="en-US" dirty="0"/>
          </a:p>
        </p:txBody>
      </p:sp>
      <p:sp>
        <p:nvSpPr>
          <p:cNvPr id="7" name="Google Shape;263;p24">
            <a:extLst>
              <a:ext uri="{FF2B5EF4-FFF2-40B4-BE49-F238E27FC236}">
                <a16:creationId xmlns:a16="http://schemas.microsoft.com/office/drawing/2014/main" id="{8F3C580D-1F83-0701-A71F-287C1A1AD0FD}"/>
              </a:ext>
            </a:extLst>
          </p:cNvPr>
          <p:cNvSpPr txBox="1"/>
          <p:nvPr/>
        </p:nvSpPr>
        <p:spPr>
          <a:xfrm>
            <a:off x="581025" y="2405062"/>
            <a:ext cx="549068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DEFF9A"/>
                </a:solidFill>
                <a:latin typeface="Syncopate" panose="020B0604020202020204" charset="0"/>
                <a:ea typeface="Urbanist"/>
                <a:cs typeface="Syncopate" panose="020B0604020202020204" charset="0"/>
                <a:sym typeface="Urbanist"/>
              </a:rPr>
              <a:t>ELITE SUPPORT</a:t>
            </a:r>
            <a:endParaRPr sz="2000" dirty="0">
              <a:latin typeface="Syncopate" panose="020B0604020202020204" charset="0"/>
              <a:cs typeface="Syncopate" panose="020B0604020202020204" charset="0"/>
            </a:endParaRPr>
          </a:p>
        </p:txBody>
      </p:sp>
      <p:sp>
        <p:nvSpPr>
          <p:cNvPr id="8" name="Google Shape;264;p24">
            <a:extLst>
              <a:ext uri="{FF2B5EF4-FFF2-40B4-BE49-F238E27FC236}">
                <a16:creationId xmlns:a16="http://schemas.microsoft.com/office/drawing/2014/main" id="{F64673F9-A736-E462-737F-FE7DFA720731}"/>
              </a:ext>
            </a:extLst>
          </p:cNvPr>
          <p:cNvSpPr txBox="1"/>
          <p:nvPr/>
        </p:nvSpPr>
        <p:spPr>
          <a:xfrm>
            <a:off x="581025" y="2814637"/>
            <a:ext cx="5229225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Syncopate" panose="020B0604020202020204" charset="0"/>
                <a:ea typeface="Urbanist"/>
                <a:cs typeface="Syncopate" panose="020B0604020202020204" charset="0"/>
                <a:sym typeface="Urbanist"/>
              </a:rPr>
              <a:t>Connect with the Engine Talk specialists for bespoke acquisitions and technical inquiries. Our team is available 24/7 for  members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lang="en-US" dirty="0"/>
          </a:p>
        </p:txBody>
      </p:sp>
      <p:pic>
        <p:nvPicPr>
          <p:cNvPr id="9" name="Google Shape;271;p24" descr="image.png">
            <a:extLst>
              <a:ext uri="{FF2B5EF4-FFF2-40B4-BE49-F238E27FC236}">
                <a16:creationId xmlns:a16="http://schemas.microsoft.com/office/drawing/2014/main" id="{D274F1A1-ABC2-7587-7B06-821FAB73224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4005262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265;p24">
            <a:extLst>
              <a:ext uri="{FF2B5EF4-FFF2-40B4-BE49-F238E27FC236}">
                <a16:creationId xmlns:a16="http://schemas.microsoft.com/office/drawing/2014/main" id="{EA677DDA-BD71-1416-B56E-0E72CBF63FB5}"/>
              </a:ext>
            </a:extLst>
          </p:cNvPr>
          <p:cNvSpPr txBox="1"/>
          <p:nvPr/>
        </p:nvSpPr>
        <p:spPr>
          <a:xfrm>
            <a:off x="771525" y="3946759"/>
            <a:ext cx="4714875" cy="3231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hello@enginetalk.in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Google Shape;272;p24" descr="image.png">
            <a:extLst>
              <a:ext uri="{FF2B5EF4-FFF2-40B4-BE49-F238E27FC236}">
                <a16:creationId xmlns:a16="http://schemas.microsoft.com/office/drawing/2014/main" id="{9B73BC2D-4909-C1D0-D99A-27203C0F4AD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481512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266;p24">
            <a:extLst>
              <a:ext uri="{FF2B5EF4-FFF2-40B4-BE49-F238E27FC236}">
                <a16:creationId xmlns:a16="http://schemas.microsoft.com/office/drawing/2014/main" id="{B8F71C0C-D692-4766-0310-65BD240E4778}"/>
              </a:ext>
            </a:extLst>
          </p:cNvPr>
          <p:cNvSpPr txBox="1"/>
          <p:nvPr/>
        </p:nvSpPr>
        <p:spPr>
          <a:xfrm>
            <a:off x="581024" y="4388331"/>
            <a:ext cx="522922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>
                <a:solidFill>
                  <a:srgbClr val="FFC000"/>
                </a:solidFill>
                <a:latin typeface="Urbanist"/>
                <a:ea typeface="Urbanist"/>
                <a:cs typeface="Urbanist"/>
                <a:sym typeface="Urbanist"/>
              </a:rPr>
              <a:t>+91 98765 43210</a:t>
            </a:r>
            <a:endParaRPr dirty="0">
              <a:solidFill>
                <a:srgbClr val="FFC000"/>
              </a:solidFill>
            </a:endParaRPr>
          </a:p>
        </p:txBody>
      </p:sp>
      <p:pic>
        <p:nvPicPr>
          <p:cNvPr id="273" name="Google Shape;273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4957762"/>
            <a:ext cx="1428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67;p24">
            <a:extLst>
              <a:ext uri="{FF2B5EF4-FFF2-40B4-BE49-F238E27FC236}">
                <a16:creationId xmlns:a16="http://schemas.microsoft.com/office/drawing/2014/main" id="{80AEDD81-18AE-1B3E-5C2E-02FB1F507727}"/>
              </a:ext>
            </a:extLst>
          </p:cNvPr>
          <p:cNvSpPr txBox="1"/>
          <p:nvPr/>
        </p:nvSpPr>
        <p:spPr>
          <a:xfrm>
            <a:off x="652462" y="4840441"/>
            <a:ext cx="522922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accent5">
                    <a:lumMod val="20000"/>
                    <a:lumOff val="80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42 Supercar Avenue, Sector 17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accent5">
                    <a:lumMod val="20000"/>
                    <a:lumOff val="80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Chandigarh, Punjab 160017, India</a:t>
            </a:r>
            <a:endParaRPr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80CF10E-107D-910E-9C2B-5190AD7F9F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0" y="740664"/>
            <a:ext cx="6177534" cy="5367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4361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6"/>
          <p:cNvSpPr txBox="1"/>
          <p:nvPr/>
        </p:nvSpPr>
        <p:spPr>
          <a:xfrm>
            <a:off x="3452383" y="1643253"/>
            <a:ext cx="461057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THANK YOU</a:t>
            </a:r>
            <a:endParaRPr dirty="0"/>
          </a:p>
        </p:txBody>
      </p:sp>
      <p:pic>
        <p:nvPicPr>
          <p:cNvPr id="2" name="Google Shape;279;p25" descr="image.png">
            <a:extLst>
              <a:ext uri="{FF2B5EF4-FFF2-40B4-BE49-F238E27FC236}">
                <a16:creationId xmlns:a16="http://schemas.microsoft.com/office/drawing/2014/main" id="{E5417844-337B-8D65-3075-26C0DE3EFDC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1565" y="3538917"/>
            <a:ext cx="5397817" cy="193031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281;p25">
            <a:extLst>
              <a:ext uri="{FF2B5EF4-FFF2-40B4-BE49-F238E27FC236}">
                <a16:creationId xmlns:a16="http://schemas.microsoft.com/office/drawing/2014/main" id="{32FF6F06-160F-9AB2-5C26-0622DA5E37CC}"/>
              </a:ext>
            </a:extLst>
          </p:cNvPr>
          <p:cNvSpPr txBox="1"/>
          <p:nvPr/>
        </p:nvSpPr>
        <p:spPr>
          <a:xfrm>
            <a:off x="626744" y="4074053"/>
            <a:ext cx="492061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FFFFFF"/>
                </a:solidFill>
                <a:latin typeface="Urbanist Black"/>
                <a:ea typeface="Urbanist Black"/>
                <a:cs typeface="Urbanist Black"/>
                <a:sym typeface="Urbanist Black"/>
              </a:rPr>
              <a:t>KRISHNA</a:t>
            </a:r>
            <a:endParaRPr dirty="0"/>
          </a:p>
        </p:txBody>
      </p:sp>
      <p:sp>
        <p:nvSpPr>
          <p:cNvPr id="282" name="Google Shape;282;p25"/>
          <p:cNvSpPr txBox="1"/>
          <p:nvPr/>
        </p:nvSpPr>
        <p:spPr>
          <a:xfrm>
            <a:off x="591121" y="4686150"/>
            <a:ext cx="46863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CCFF00"/>
                </a:solidFill>
                <a:latin typeface="Syncopate"/>
                <a:ea typeface="Syncopate"/>
                <a:cs typeface="Syncopate"/>
                <a:sym typeface="Syncopate"/>
              </a:rPr>
              <a:t>ROLL NUMBER: 2510992866</a:t>
            </a:r>
            <a:endParaRPr dirty="0"/>
          </a:p>
        </p:txBody>
      </p:sp>
      <p:sp>
        <p:nvSpPr>
          <p:cNvPr id="4" name="Google Shape;283;p25">
            <a:extLst>
              <a:ext uri="{FF2B5EF4-FFF2-40B4-BE49-F238E27FC236}">
                <a16:creationId xmlns:a16="http://schemas.microsoft.com/office/drawing/2014/main" id="{46C3BBED-8B1C-DB7A-2A2A-BB6E6CA50053}"/>
              </a:ext>
            </a:extLst>
          </p:cNvPr>
          <p:cNvSpPr txBox="1"/>
          <p:nvPr/>
        </p:nvSpPr>
        <p:spPr>
          <a:xfrm>
            <a:off x="627697" y="5018191"/>
            <a:ext cx="4686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0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BE CSE with AI &amp; ML | Semester II</a:t>
            </a:r>
            <a:endParaRPr dirty="0"/>
          </a:p>
        </p:txBody>
      </p:sp>
      <p:pic>
        <p:nvPicPr>
          <p:cNvPr id="5" name="Google Shape;280;p25" descr="image.png">
            <a:extLst>
              <a:ext uri="{FF2B5EF4-FFF2-40B4-BE49-F238E27FC236}">
                <a16:creationId xmlns:a16="http://schemas.microsoft.com/office/drawing/2014/main" id="{7418B947-1E9C-E636-3EF5-3DDB1CB4D6C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87416" y="3538917"/>
            <a:ext cx="5276850" cy="193031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84;p25">
            <a:extLst>
              <a:ext uri="{FF2B5EF4-FFF2-40B4-BE49-F238E27FC236}">
                <a16:creationId xmlns:a16="http://schemas.microsoft.com/office/drawing/2014/main" id="{FE51DC57-0A85-DBCF-08EE-80C350D3CC20}"/>
              </a:ext>
            </a:extLst>
          </p:cNvPr>
          <p:cNvSpPr txBox="1"/>
          <p:nvPr/>
        </p:nvSpPr>
        <p:spPr>
          <a:xfrm>
            <a:off x="6254496" y="3966019"/>
            <a:ext cx="492061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FFFFFF"/>
                </a:solidFill>
                <a:latin typeface="Urbanist Black"/>
                <a:ea typeface="Urbanist Black"/>
                <a:cs typeface="Urbanist Black"/>
                <a:sym typeface="Urbanist Black"/>
              </a:rPr>
              <a:t>CHAITANYA BANSAL</a:t>
            </a:r>
            <a:endParaRPr dirty="0"/>
          </a:p>
        </p:txBody>
      </p:sp>
      <p:sp>
        <p:nvSpPr>
          <p:cNvPr id="285" name="Google Shape;285;p25"/>
          <p:cNvSpPr txBox="1"/>
          <p:nvPr/>
        </p:nvSpPr>
        <p:spPr>
          <a:xfrm>
            <a:off x="6227064" y="4668583"/>
            <a:ext cx="46863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CCFF00"/>
                </a:solidFill>
                <a:latin typeface="Syncopate"/>
                <a:ea typeface="Syncopate"/>
                <a:cs typeface="Syncopate"/>
                <a:sym typeface="Syncopate"/>
              </a:rPr>
              <a:t>ROLL NUMBER: 2510992870</a:t>
            </a:r>
            <a:endParaRPr dirty="0"/>
          </a:p>
        </p:txBody>
      </p:sp>
      <p:sp>
        <p:nvSpPr>
          <p:cNvPr id="286" name="Google Shape;286;p25"/>
          <p:cNvSpPr txBox="1"/>
          <p:nvPr/>
        </p:nvSpPr>
        <p:spPr>
          <a:xfrm>
            <a:off x="6272784" y="5027866"/>
            <a:ext cx="4686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0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BE CSE with AI &amp; ML | Semester II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237</TotalTime>
  <Words>646</Words>
  <Application>Microsoft Office PowerPoint</Application>
  <PresentationFormat>Widescreen</PresentationFormat>
  <Paragraphs>122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7" baseType="lpstr">
      <vt:lpstr>STZhongsong</vt:lpstr>
      <vt:lpstr>Urbanist Black</vt:lpstr>
      <vt:lpstr>Urbanist Medium</vt:lpstr>
      <vt:lpstr>Calibri</vt:lpstr>
      <vt:lpstr>Bookman Old Style</vt:lpstr>
      <vt:lpstr>Lato</vt:lpstr>
      <vt:lpstr>Times New Roman</vt:lpstr>
      <vt:lpstr>STXinwei</vt:lpstr>
      <vt:lpstr>Syncopate</vt:lpstr>
      <vt:lpstr>Arial Rounded MT Bold</vt:lpstr>
      <vt:lpstr>Arial</vt:lpstr>
      <vt:lpstr>Urbanist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chaitanya bansal</dc:creator>
  <cp:lastModifiedBy>Krishna gupta</cp:lastModifiedBy>
  <cp:revision>10</cp:revision>
  <dcterms:modified xsi:type="dcterms:W3CDTF">2026-05-23T05:00:33Z</dcterms:modified>
</cp:coreProperties>
</file>