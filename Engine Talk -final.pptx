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70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Syncopate" panose="020B0604020202020204" charset="0"/>
      <p:regular r:id="rId22"/>
      <p:bold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  <p:embeddedFont>
      <p:font typeface="Urbanist Black" panose="020B0604020202020204" charset="0"/>
      <p:bold r:id="rId28"/>
      <p:boldItalic r:id="rId29"/>
    </p:embeddedFont>
    <p:embeddedFont>
      <p:font typeface="Urbanist Medium" panose="020B0604020202020204" charset="0"/>
      <p:regular r:id="rId30"/>
      <p:bold r:id="rId31"/>
      <p:italic r:id="rId32"/>
      <p:boldItalic r:id="rId33"/>
    </p:embeddedFont>
    <p:embeddedFont>
      <p:font typeface="Urbanist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DD3A0D-EEAB-46C4-87FE-20DEC3D4A06B}" v="1" dt="2026-05-22T03:55:21.992"/>
  </p1510:revLst>
</p1510:revInfo>
</file>

<file path=ppt/tableStyles.xml><?xml version="1.0" encoding="utf-8"?>
<a:tblStyleLst xmlns:a="http://schemas.openxmlformats.org/drawingml/2006/main" def="{B26090E7-5C05-4F52-A8F1-729C7F8851A4}">
  <a:tblStyle styleId="{B26090E7-5C05-4F52-A8F1-729C7F8851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9162" y="4000500"/>
            <a:ext cx="27336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400663" y="1666875"/>
            <a:ext cx="539067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ENGINE </a:t>
            </a:r>
            <a:r>
              <a:rPr lang="en-US" sz="6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29012" y="2619375"/>
            <a:ext cx="5133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PERFORMANCE • PRESTIGE • POWER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29162" y="4381499"/>
            <a:ext cx="2924366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Krishna | Chaitanya Bansal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729162" y="4833936"/>
            <a:ext cx="298837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AUTOMOTIVE WEB PLATFORM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2206"/>
            <a:ext cx="5286375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12206"/>
            <a:ext cx="5286375" cy="28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/ PROBLEM STATEMENT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440906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 CENTRAL HUB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926681"/>
            <a:ext cx="46005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Luxury car enthusiasts lacked a single, premium destination to browse brands, performance specs, and high-res visuals in one immersive interface.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440906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STATIC EXPERIENCE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3926681"/>
            <a:ext cx="46005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Most existing sites lacked real-time interactivity. Users couldn't visualize car colors live or manage persistent carts without backend accounts.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027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802731"/>
            <a:ext cx="4762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02 / PROJECT OBJECTIVES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14400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PREMIUM SHOWCASE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Clean, high-performance website for exotic luxury vehicles.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76775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DYNAMIC FILTERING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76775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Instant sorting by brand, horsepower, or type via JS.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39150" y="3424237"/>
            <a:ext cx="29803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GARAGE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39150" y="42148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Real-time color configurator and live spec explorer.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03 / USER JOURNEY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3783806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480095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21780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Secure entry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3745110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786795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SHOWROOM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836515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Browse heroes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010126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051810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GARAGE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10153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Configure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8275141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316825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SELECTION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366545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Full catalog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0540156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581841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CHECKOUT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63156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Finalize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571500"/>
            <a:ext cx="5286375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P1 / LOGIN &amp; REGISTRATION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SECURE ACCESS NODE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22960" y="309276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LocalStorage</a:t>
            </a:r>
            <a:r>
              <a:rPr lang="en-US" sz="14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-based credential storage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857250" y="34694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Real-time form validation &amp; neon feedback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57250" y="38552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Persistent session across refreshes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57250" y="42410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Sleek Dark UI with animated focus states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57250" y="46267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Auto-redirect for authenticated users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30837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34694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3855243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424100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462676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4ACF8-ECD8-C331-9128-F74CA8C1C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65" y="581683"/>
            <a:ext cx="5286375" cy="5390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31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571500"/>
            <a:ext cx="52006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P2 / SHOWROOM EXPERIENCE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447675" y="1428654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HOMEPAGE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358139" y="229620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348611" y="444664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348611" y="3306199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32050-AB88-E37F-2B46-CD5FEA3A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3" y="1151297"/>
            <a:ext cx="8567928" cy="5166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EF1C0-B60F-6FF3-9A51-82954E10554F}"/>
              </a:ext>
            </a:extLst>
          </p:cNvPr>
          <p:cNvSpPr txBox="1"/>
          <p:nvPr/>
        </p:nvSpPr>
        <p:spPr>
          <a:xfrm>
            <a:off x="714375" y="2268731"/>
            <a:ext cx="3099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Full-screen hero section with animated tagline entrance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C6658-F8CB-3240-4529-5458D92DFD3A}"/>
              </a:ext>
            </a:extLst>
          </p:cNvPr>
          <p:cNvSpPr txBox="1"/>
          <p:nvPr/>
        </p:nvSpPr>
        <p:spPr>
          <a:xfrm>
            <a:off x="714375" y="3271409"/>
            <a:ext cx="2719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Featured Cars grid with curated top performance models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A2618-20AC-31DA-25CE-0371FACE3909}"/>
              </a:ext>
            </a:extLst>
          </p:cNvPr>
          <p:cNvSpPr txBox="1"/>
          <p:nvPr/>
        </p:nvSpPr>
        <p:spPr>
          <a:xfrm>
            <a:off x="714375" y="4446646"/>
            <a:ext cx="226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Sticky navigation with cart count badge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P3 / DISCOVERY ENGINE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334125" y="2443162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INTELLIGENT CATALOG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334125" y="2928937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high-fidelity grid featuring 12 exotic models with real-time DOM filtering.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19875" y="365283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Multi-criteria filtering: Brand, Type, HP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19875" y="4038600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No-reload instant UI re-renders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619875" y="442436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Responsive grid (3-col to 1-col mobile)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19875" y="481012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Detailed car cards with live pricing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334125" y="3652837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334125" y="403860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334125" y="4424362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334125" y="48101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60658-6CC3-B7E0-99A2-2FB46BCD2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45310"/>
            <a:ext cx="4956876" cy="4486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P4 / INTERACTIVE GARAGE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REAL-TIME PERSONALIZATION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57250" y="308371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Flagship brands: Porsche, Ferrari, McLaren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57250" y="34694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3 custom paint colors with live previews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57250" y="38552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Async fade transitions for smooth swapping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57250" y="42410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Dynamic spec panel updates on-the-fly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57250" y="46267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Direct "Add to Garage" cart integration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30837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71500" y="34694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3855243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424100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71500" y="462676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870A8-337D-808B-AB2F-78448282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1009650"/>
            <a:ext cx="5372100" cy="5044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P5 / CART MANAGEMENT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334125" y="22288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 GARAGE SELECTION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34125" y="27146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transparent staging area where users review their tailored builds before checking out.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619875" y="343852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Persistent Summary: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Syncs configured car details, selected paint finishes, and custom specs.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619875" y="4095750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Live Total Matrix: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Instant multi-item price addition calculations directly inside the DOM.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619875" y="475297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Frictionless Pruning: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Dynamic item removals with low-latency smooth layout transitions.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334125" y="34385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334125" y="409575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334125" y="475297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2CA13-2936-3E5F-0382-042B4A52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62" y="1874520"/>
            <a:ext cx="590111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571500" y="5715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P6 / PREMIUM PAYMENT UI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29860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secure checkout flow designed for high-trust premium automotive acquisitions.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333500" y="2193131"/>
            <a:ext cx="1981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Frictionless Transactions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57250" y="3967162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Cart validated globally via 'et_cart' state string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57250" y="4352925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Interactive layout matching premium payment styles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57250" y="4738687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Neon error alerts on blank or malformed input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57250" y="5124450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Automated success gateway landing mechanics</a:t>
            </a:r>
            <a:endParaRPr/>
          </a:p>
        </p:txBody>
      </p:sp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850" y="21955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571500" y="3967162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43529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4738687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512445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55BF7-14DA-4C8A-C86A-4A9371DF4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2" y="571500"/>
            <a:ext cx="4302633" cy="5686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92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381000" y="762000"/>
            <a:ext cx="54006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P7 /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CONCIERGE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16764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Intelligent API Integration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2143125"/>
            <a:ext cx="49530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Engine Talk now features a sophisticated AI Chatbot powered by state-of-the-art Large Language Models to assist users throughout their journey.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04875" y="3297287"/>
            <a:ext cx="46196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Expert Support: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Instant answers to technical specifications and model availability.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4066728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Personalized Discovery: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Suggests exotic vehicles based on unique performance profiles.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790003" y="5007197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Seamless Handover: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Direct connection to specialist support for bespoke acquisitions.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327823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04767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 flipV="1">
            <a:off x="676275" y="5020047"/>
            <a:ext cx="67818" cy="404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4D136-A792-1EC5-B1F8-38DEF85BF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83476"/>
            <a:ext cx="4226925" cy="60910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3005-7B2F-ECCF-474F-D90812F09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36A81-3AE2-6932-C6FA-A481A2B82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260;p24" descr="image.png">
            <a:extLst>
              <a:ext uri="{FF2B5EF4-FFF2-40B4-BE49-F238E27FC236}">
                <a16:creationId xmlns:a16="http://schemas.microsoft.com/office/drawing/2014/main" id="{9F9A1FE4-09E9-B5B2-28D2-7D68053ADD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5;p24">
            <a:extLst>
              <a:ext uri="{FF2B5EF4-FFF2-40B4-BE49-F238E27FC236}">
                <a16:creationId xmlns:a16="http://schemas.microsoft.com/office/drawing/2014/main" id="{5A122FAA-F33C-46C0-3A79-E3AC49E43610}"/>
              </a:ext>
            </a:extLst>
          </p:cNvPr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P8 / CONTACT US</a:t>
            </a:r>
            <a:endParaRPr lang="en-US" dirty="0"/>
          </a:p>
        </p:txBody>
      </p:sp>
      <p:sp>
        <p:nvSpPr>
          <p:cNvPr id="7" name="Google Shape;263;p24">
            <a:extLst>
              <a:ext uri="{FF2B5EF4-FFF2-40B4-BE49-F238E27FC236}">
                <a16:creationId xmlns:a16="http://schemas.microsoft.com/office/drawing/2014/main" id="{8F3C580D-1F83-0701-A71F-287C1A1AD0FD}"/>
              </a:ext>
            </a:extLst>
          </p:cNvPr>
          <p:cNvSpPr txBox="1"/>
          <p:nvPr/>
        </p:nvSpPr>
        <p:spPr>
          <a:xfrm>
            <a:off x="581025" y="24050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ELITE SUPPORT</a:t>
            </a:r>
            <a:endParaRPr dirty="0"/>
          </a:p>
        </p:txBody>
      </p:sp>
      <p:sp>
        <p:nvSpPr>
          <p:cNvPr id="8" name="Google Shape;264;p24">
            <a:extLst>
              <a:ext uri="{FF2B5EF4-FFF2-40B4-BE49-F238E27FC236}">
                <a16:creationId xmlns:a16="http://schemas.microsoft.com/office/drawing/2014/main" id="{F64673F9-A736-E462-737F-FE7DFA720731}"/>
              </a:ext>
            </a:extLst>
          </p:cNvPr>
          <p:cNvSpPr txBox="1"/>
          <p:nvPr/>
        </p:nvSpPr>
        <p:spPr>
          <a:xfrm>
            <a:off x="581025" y="2814637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Connect with the Engine Talk specialists for bespoke acquisitions and technical inquiries. Our team is available 24/7 for our premium members.</a:t>
            </a:r>
            <a:endParaRPr lang="en-US" dirty="0"/>
          </a:p>
        </p:txBody>
      </p:sp>
      <p:pic>
        <p:nvPicPr>
          <p:cNvPr id="9" name="Google Shape;271;p24" descr="image.png">
            <a:extLst>
              <a:ext uri="{FF2B5EF4-FFF2-40B4-BE49-F238E27FC236}">
                <a16:creationId xmlns:a16="http://schemas.microsoft.com/office/drawing/2014/main" id="{D274F1A1-ABC2-7587-7B06-821FAB732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0052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65;p24">
            <a:extLst>
              <a:ext uri="{FF2B5EF4-FFF2-40B4-BE49-F238E27FC236}">
                <a16:creationId xmlns:a16="http://schemas.microsoft.com/office/drawing/2014/main" id="{EA677DDA-BD71-1416-B56E-0E72CBF63FB5}"/>
              </a:ext>
            </a:extLst>
          </p:cNvPr>
          <p:cNvSpPr txBox="1"/>
          <p:nvPr/>
        </p:nvSpPr>
        <p:spPr>
          <a:xfrm>
            <a:off x="581025" y="395763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support@enginetalk.auto</a:t>
            </a:r>
            <a:endParaRPr dirty="0"/>
          </a:p>
        </p:txBody>
      </p:sp>
      <p:pic>
        <p:nvPicPr>
          <p:cNvPr id="11" name="Google Shape;272;p24" descr="image.png">
            <a:extLst>
              <a:ext uri="{FF2B5EF4-FFF2-40B4-BE49-F238E27FC236}">
                <a16:creationId xmlns:a16="http://schemas.microsoft.com/office/drawing/2014/main" id="{9B73BC2D-4909-C1D0-D99A-27203C0F4A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15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66;p24">
            <a:extLst>
              <a:ext uri="{FF2B5EF4-FFF2-40B4-BE49-F238E27FC236}">
                <a16:creationId xmlns:a16="http://schemas.microsoft.com/office/drawing/2014/main" id="{B8F71C0C-D692-4766-0310-65BD240E4778}"/>
              </a:ext>
            </a:extLst>
          </p:cNvPr>
          <p:cNvSpPr txBox="1"/>
          <p:nvPr/>
        </p:nvSpPr>
        <p:spPr>
          <a:xfrm>
            <a:off x="581025" y="443388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+1 (800) LUX-AUTO</a:t>
            </a:r>
            <a:endParaRPr dirty="0"/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9577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67;p24">
            <a:extLst>
              <a:ext uri="{FF2B5EF4-FFF2-40B4-BE49-F238E27FC236}">
                <a16:creationId xmlns:a16="http://schemas.microsoft.com/office/drawing/2014/main" id="{80AEDD81-18AE-1B3E-5C2E-02FB1F507727}"/>
              </a:ext>
            </a:extLst>
          </p:cNvPr>
          <p:cNvSpPr txBox="1"/>
          <p:nvPr/>
        </p:nvSpPr>
        <p:spPr>
          <a:xfrm>
            <a:off x="581025" y="491013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Silicon Valley, CA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CF10E-107D-910E-9C2B-5190AD7F9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740665"/>
            <a:ext cx="6177534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05 / CHALLENGES &amp; RESOLUTIONS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24"/>
          <p:cNvGraphicFramePr/>
          <p:nvPr>
            <p:extLst>
              <p:ext uri="{D42A27DB-BD31-4B8C-83A1-F6EECF244321}">
                <p14:modId xmlns:p14="http://schemas.microsoft.com/office/powerpoint/2010/main" val="1750846858"/>
              </p:ext>
            </p:extLst>
          </p:nvPr>
        </p:nvGraphicFramePr>
        <p:xfrm>
          <a:off x="557784" y="2867025"/>
          <a:ext cx="11062716" cy="2133600"/>
        </p:xfrm>
        <a:graphic>
          <a:graphicData uri="http://schemas.openxmlformats.org/drawingml/2006/table">
            <a:tbl>
              <a:tblPr firstRow="1" bandRow="1">
                <a:noFill/>
                <a:tableStyleId>{B26090E7-5C05-4F52-A8F1-729C7F8851A4}</a:tableStyleId>
              </a:tblPr>
              <a:tblGrid>
                <a:gridCol w="2703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Resolution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Persistence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Unified LocalStorage key 'et_cart'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Serverless session continuity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Swapping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JS Async fade transitions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Seamless 300ms rendering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Neon UI Fidelity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Media-query optimized CSS filters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Low-latency visual consistency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3" name="Google Shape;293;p24"/>
          <p:cNvSpPr/>
          <p:nvPr/>
        </p:nvSpPr>
        <p:spPr>
          <a:xfrm>
            <a:off x="571500" y="33861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3261270" y="33861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626101" y="33861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71500" y="39195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3261270" y="39195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7626101" y="39195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71500" y="44529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3261270" y="44529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7626101" y="44529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571500" y="49863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3261270" y="49863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7626101" y="49863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5286375" cy="161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3825"/>
            <a:ext cx="5286375" cy="161448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06 / FUTURE ROADMAP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6334125" y="2945606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STRATEGIC EXPANSION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771525" y="2328862"/>
            <a:ext cx="513064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771525" y="3090862"/>
            <a:ext cx="4886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Responsive Pages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771525" y="4133850"/>
            <a:ext cx="513064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12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771525" y="4895850"/>
            <a:ext cx="4886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Exotic Models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619875" y="353615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2: Backend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Node.js &amp; MongoDB integration.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619875" y="392191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3: Analytics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Dashboard for conversion metrics.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619875" y="43076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4: 3D Viewer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WebGL interactive model viewer.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6334125" y="353615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334125" y="39219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6334125" y="43076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3452383" y="1643253"/>
            <a:ext cx="461057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dirty="0"/>
          </a:p>
        </p:txBody>
      </p:sp>
      <p:pic>
        <p:nvPicPr>
          <p:cNvPr id="2" name="Google Shape;279;p25" descr="image.png">
            <a:extLst>
              <a:ext uri="{FF2B5EF4-FFF2-40B4-BE49-F238E27FC236}">
                <a16:creationId xmlns:a16="http://schemas.microsoft.com/office/drawing/2014/main" id="{E5417844-337B-8D65-3075-26C0DE3EFD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565" y="3538917"/>
            <a:ext cx="5397817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81;p25">
            <a:extLst>
              <a:ext uri="{FF2B5EF4-FFF2-40B4-BE49-F238E27FC236}">
                <a16:creationId xmlns:a16="http://schemas.microsoft.com/office/drawing/2014/main" id="{32FF6F06-160F-9AB2-5C26-0622DA5E37CC}"/>
              </a:ext>
            </a:extLst>
          </p:cNvPr>
          <p:cNvSpPr txBox="1"/>
          <p:nvPr/>
        </p:nvSpPr>
        <p:spPr>
          <a:xfrm>
            <a:off x="626744" y="4074053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KRISHNA</a:t>
            </a:r>
            <a:endParaRPr dirty="0"/>
          </a:p>
        </p:txBody>
      </p:sp>
      <p:sp>
        <p:nvSpPr>
          <p:cNvPr id="282" name="Google Shape;282;p25"/>
          <p:cNvSpPr txBox="1"/>
          <p:nvPr/>
        </p:nvSpPr>
        <p:spPr>
          <a:xfrm>
            <a:off x="591121" y="4686150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2510992866</a:t>
            </a:r>
            <a:endParaRPr dirty="0"/>
          </a:p>
        </p:txBody>
      </p:sp>
      <p:sp>
        <p:nvSpPr>
          <p:cNvPr id="4" name="Google Shape;283;p25">
            <a:extLst>
              <a:ext uri="{FF2B5EF4-FFF2-40B4-BE49-F238E27FC236}">
                <a16:creationId xmlns:a16="http://schemas.microsoft.com/office/drawing/2014/main" id="{46C3BBED-8B1C-DB7A-2A2A-BB6E6CA50053}"/>
              </a:ext>
            </a:extLst>
          </p:cNvPr>
          <p:cNvSpPr txBox="1"/>
          <p:nvPr/>
        </p:nvSpPr>
        <p:spPr>
          <a:xfrm>
            <a:off x="627697" y="501819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  <p:pic>
        <p:nvPicPr>
          <p:cNvPr id="5" name="Google Shape;280;p25" descr="image.png">
            <a:extLst>
              <a:ext uri="{FF2B5EF4-FFF2-40B4-BE49-F238E27FC236}">
                <a16:creationId xmlns:a16="http://schemas.microsoft.com/office/drawing/2014/main" id="{7418B947-1E9C-E636-3EF5-3DDB1CB4D6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7416" y="3538917"/>
            <a:ext cx="5276850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4;p25">
            <a:extLst>
              <a:ext uri="{FF2B5EF4-FFF2-40B4-BE49-F238E27FC236}">
                <a16:creationId xmlns:a16="http://schemas.microsoft.com/office/drawing/2014/main" id="{FE51DC57-0A85-DBCF-08EE-80C350D3CC20}"/>
              </a:ext>
            </a:extLst>
          </p:cNvPr>
          <p:cNvSpPr txBox="1"/>
          <p:nvPr/>
        </p:nvSpPr>
        <p:spPr>
          <a:xfrm>
            <a:off x="6254496" y="3966019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CHAITANYA BANSAL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6227064" y="4668583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2510992870</a:t>
            </a:r>
            <a:endParaRPr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6272784" y="5027866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632</Words>
  <Application>Microsoft Office PowerPoint</Application>
  <PresentationFormat>Widescreen</PresentationFormat>
  <Paragraphs>137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Urbanist</vt:lpstr>
      <vt:lpstr>Lato</vt:lpstr>
      <vt:lpstr>Urbanist SemiBold</vt:lpstr>
      <vt:lpstr>Urbanist Medium</vt:lpstr>
      <vt:lpstr>Calibri</vt:lpstr>
      <vt:lpstr>Urbanist Black</vt:lpstr>
      <vt:lpstr>Syncopate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bansal</dc:creator>
  <cp:lastModifiedBy>Krishna gupta</cp:lastModifiedBy>
  <cp:revision>8</cp:revision>
  <dcterms:modified xsi:type="dcterms:W3CDTF">2026-05-22T03:57:12Z</dcterms:modified>
</cp:coreProperties>
</file>