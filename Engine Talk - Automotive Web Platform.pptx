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</p:sldIdLst>
  <p:sldSz cx="12192000" cy="6858000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Syncopate" panose="020B0604020202020204" charset="0"/>
      <p:regular r:id="rId22"/>
      <p:bold r:id="rId23"/>
    </p:embeddedFont>
    <p:embeddedFont>
      <p:font typeface="Urbanist" panose="020B0604020202020204" charset="0"/>
      <p:regular r:id="rId24"/>
      <p:bold r:id="rId25"/>
      <p:italic r:id="rId26"/>
      <p:boldItalic r:id="rId27"/>
    </p:embeddedFont>
    <p:embeddedFont>
      <p:font typeface="Urbanist Black" panose="020B0604020202020204" charset="0"/>
      <p:bold r:id="rId28"/>
      <p:boldItalic r:id="rId29"/>
    </p:embeddedFont>
    <p:embeddedFont>
      <p:font typeface="Urbanist Medium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26090E7-5C05-4F52-A8F1-729C7F8851A4}">
  <a:tblStyle styleId="{B26090E7-5C05-4F52-A8F1-729C7F8851A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9162" y="4000500"/>
            <a:ext cx="2733675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400663" y="1666875"/>
            <a:ext cx="5390673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ENGINE </a:t>
            </a:r>
            <a:r>
              <a:rPr lang="en-US" sz="63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TALK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529012" y="2619375"/>
            <a:ext cx="51339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PERFORMANCE • PRESTIGE • POWER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729162" y="4381499"/>
            <a:ext cx="2924366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Krishna | Chaitanya Bansal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4729162" y="4833936"/>
            <a:ext cx="2988374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AUTOMOTIVE WEB PLATFORM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2206"/>
            <a:ext cx="5286375" cy="2852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12206"/>
            <a:ext cx="5286375" cy="285273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01 / PROBLEM STATEMENT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3440906"/>
            <a:ext cx="483060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NO CENTRAL HUB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14400" y="3926681"/>
            <a:ext cx="46005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Luxury car enthusiasts lacked a single, premium destination to browse brands, performance specs, and high-res visuals in one immersive interface.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77025" y="3440906"/>
            <a:ext cx="483060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STATIC EXPERIENCE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77025" y="3926681"/>
            <a:ext cx="46005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Most existing sites lacked real-time interactivity. Users couldn't visualize car colors live or manage persistent carts without backend accounts.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802731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802731"/>
            <a:ext cx="47625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95537"/>
            <a:ext cx="352425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395537"/>
            <a:ext cx="352425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395537"/>
            <a:ext cx="3524250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02 / PROJECT OBJECTIVES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914400" y="3424237"/>
            <a:ext cx="298037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PREMIUM SHOWCASE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14400" y="3910012"/>
            <a:ext cx="2838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Clean, high-performance website for exotic luxury vehicles.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76775" y="3424237"/>
            <a:ext cx="298037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DYNAMIC FILTERING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76775" y="3910012"/>
            <a:ext cx="2838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Instant sorting by brand, horsepower, or type via JS.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39150" y="3424237"/>
            <a:ext cx="2980372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INTERACTIVE GARAGE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39150" y="4214812"/>
            <a:ext cx="2838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Real-time color configurator and live spec explorer.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78606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76775" y="278606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39150" y="2786062"/>
            <a:ext cx="4191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47937"/>
            <a:ext cx="2583656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3281" y="2547937"/>
            <a:ext cx="2583656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2547937"/>
            <a:ext cx="2583656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36843" y="2547937"/>
            <a:ext cx="2583656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03 / TECH STACK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914400" y="3576637"/>
            <a:ext cx="19927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HTML5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14400" y="4062412"/>
            <a:ext cx="1897856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Semantic markup for responsive layouts.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3736181" y="3576637"/>
            <a:ext cx="19927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CSS3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3736181" y="4062412"/>
            <a:ext cx="1897856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Neon glow and NFS-inspired animations.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557962" y="3576637"/>
            <a:ext cx="19927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JS LOGIC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557962" y="4062412"/>
            <a:ext cx="1897856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DOM manipulation and state handling.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379743" y="3576637"/>
            <a:ext cx="19927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STORAGE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379743" y="4062412"/>
            <a:ext cx="1897856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LocalStorage for session continuity.</a:t>
            </a:r>
            <a:endParaRPr/>
          </a:p>
        </p:txBody>
      </p:sp>
      <p:pic>
        <p:nvPicPr>
          <p:cNvPr id="144" name="Google Shape;14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928937"/>
            <a:ext cx="3143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36181" y="2928937"/>
            <a:ext cx="3143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57962" y="2928937"/>
            <a:ext cx="3714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379743" y="2938462"/>
            <a:ext cx="371475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04 / USER JOURNEY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71500" y="3783806"/>
            <a:ext cx="1104900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1480095" y="3545681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521780" y="3955256"/>
            <a:ext cx="208822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LOGIN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71500" y="4441031"/>
            <a:ext cx="198879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Secure entry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3745110" y="3545681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2786795" y="3955256"/>
            <a:ext cx="208822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SHOWROOM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2836515" y="4441031"/>
            <a:ext cx="198879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Browse heroes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6010126" y="3545681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5051810" y="3955256"/>
            <a:ext cx="208822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GARAGE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5101530" y="4441031"/>
            <a:ext cx="198879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Configure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8275141" y="3545681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7316825" y="3955256"/>
            <a:ext cx="208822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SELECTION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366545" y="4441031"/>
            <a:ext cx="198879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Full catalog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10540156" y="3545681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9581841" y="3955256"/>
            <a:ext cx="208822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CHECKOUT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9631560" y="4441031"/>
            <a:ext cx="198879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Finalize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571500"/>
            <a:ext cx="5286375" cy="517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P1 / LOGIN &amp; REGISTRATION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571500" y="2626518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SECURE ACCESS NODE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22960" y="3092767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LocalStorage</a:t>
            </a:r>
            <a:r>
              <a:rPr lang="en-US" sz="1425" b="0" i="0" u="none" strike="noStrike" cap="none" dirty="0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-based credential storage</a:t>
            </a:r>
            <a:endParaRPr dirty="0"/>
          </a:p>
        </p:txBody>
      </p:sp>
      <p:sp>
        <p:nvSpPr>
          <p:cNvPr id="182" name="Google Shape;182;p18"/>
          <p:cNvSpPr txBox="1"/>
          <p:nvPr/>
        </p:nvSpPr>
        <p:spPr>
          <a:xfrm>
            <a:off x="857250" y="3469481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Real-time form validation &amp; neon feedback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857250" y="3855243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Persistent session across refreshes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857250" y="4241006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Sleek Dark UI with animated focus states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857250" y="4626768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Auto-redirect for authenticated users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571500" y="3083718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571500" y="3469481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571500" y="3855243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571500" y="4241006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571500" y="4626768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34ACF8-ECD8-C331-9128-F74CA8C1C0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365" y="581683"/>
            <a:ext cx="5286375" cy="53907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31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571500" y="571500"/>
            <a:ext cx="520065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P2 / SHOWROOM EXPERIENCE</a:t>
            </a:r>
            <a:endParaRPr dirty="0"/>
          </a:p>
        </p:txBody>
      </p:sp>
      <p:sp>
        <p:nvSpPr>
          <p:cNvPr id="198" name="Google Shape;198;p19"/>
          <p:cNvSpPr txBox="1"/>
          <p:nvPr/>
        </p:nvSpPr>
        <p:spPr>
          <a:xfrm>
            <a:off x="447675" y="1428654"/>
            <a:ext cx="5200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HOMEPAGE</a:t>
            </a:r>
            <a:endParaRPr dirty="0"/>
          </a:p>
        </p:txBody>
      </p:sp>
      <p:sp>
        <p:nvSpPr>
          <p:cNvPr id="204" name="Google Shape;204;p19"/>
          <p:cNvSpPr txBox="1"/>
          <p:nvPr/>
        </p:nvSpPr>
        <p:spPr>
          <a:xfrm>
            <a:off x="358139" y="2296208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 dirty="0"/>
          </a:p>
        </p:txBody>
      </p:sp>
      <p:sp>
        <p:nvSpPr>
          <p:cNvPr id="206" name="Google Shape;206;p19"/>
          <p:cNvSpPr txBox="1"/>
          <p:nvPr/>
        </p:nvSpPr>
        <p:spPr>
          <a:xfrm>
            <a:off x="348611" y="4446646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 dirty="0"/>
          </a:p>
        </p:txBody>
      </p:sp>
      <p:sp>
        <p:nvSpPr>
          <p:cNvPr id="207" name="Google Shape;207;p19"/>
          <p:cNvSpPr txBox="1"/>
          <p:nvPr/>
        </p:nvSpPr>
        <p:spPr>
          <a:xfrm>
            <a:off x="348611" y="3306199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32050-AB88-E37F-2B46-CD5FEA3A4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013" y="1151297"/>
            <a:ext cx="8567928" cy="51662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3EF1C0-B60F-6FF3-9A51-82954E10554F}"/>
              </a:ext>
            </a:extLst>
          </p:cNvPr>
          <p:cNvSpPr txBox="1"/>
          <p:nvPr/>
        </p:nvSpPr>
        <p:spPr>
          <a:xfrm>
            <a:off x="714375" y="2268731"/>
            <a:ext cx="3099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Full-screen hero section with animated tagline entrance</a:t>
            </a: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0C6658-F8CB-3240-4529-5458D92DFD3A}"/>
              </a:ext>
            </a:extLst>
          </p:cNvPr>
          <p:cNvSpPr txBox="1"/>
          <p:nvPr/>
        </p:nvSpPr>
        <p:spPr>
          <a:xfrm>
            <a:off x="714375" y="3271409"/>
            <a:ext cx="2719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Featured Cars grid with curated top performance models</a:t>
            </a: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5A2618-20AC-31DA-25CE-0371FACE3909}"/>
              </a:ext>
            </a:extLst>
          </p:cNvPr>
          <p:cNvSpPr txBox="1"/>
          <p:nvPr/>
        </p:nvSpPr>
        <p:spPr>
          <a:xfrm>
            <a:off x="714375" y="4446646"/>
            <a:ext cx="2266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Sticky navigation with cart count badge</a:t>
            </a: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P3 / DISCOVERY ENGINE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6334125" y="2443162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INTELLIGENT CATALOG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334125" y="2928937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A high-fidelity grid featuring 12 exotic models with real-time DOM filtering.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619875" y="3652837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Multi-criteria filtering: Brand, Type, HP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619875" y="4038600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No-reload instant UI re-renders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619875" y="4424362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Responsive grid (3-col to 1-col mobile)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619875" y="4810125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Detailed car cards with live pricing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334125" y="3652837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6334125" y="4038600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6334125" y="4424362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6334125" y="4810125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B60658-6CC3-B7E0-99A2-2FB46BCD2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45310"/>
            <a:ext cx="4956876" cy="44865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P4 / INTERACTIVE GARAGE</a:t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571500" y="2626518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REAL-TIME PERSONALIZATION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857250" y="3083718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Flagship brands: Porsche, Ferrari, McLaren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857250" y="3469481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3 custom paint colors with live previews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857250" y="3855243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Async fade transitions for smooth swapping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857250" y="4241006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Dynamic spec panel updates on-the-fly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857250" y="4626768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Direct "Add to Garage" cart integration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571500" y="3083718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571500" y="3469481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571500" y="3855243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571500" y="4241006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571500" y="4626768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6870A8-337D-808B-AB2F-784482824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650" y="1009650"/>
            <a:ext cx="5372100" cy="50447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P5 / CART MANAGEMENT</a:t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6334125" y="2228850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MY GARAGE SELECTION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6334125" y="2714625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A transparent staging area where users review their tailored builds before checking out.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6619875" y="3438525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Persistent Summary:</a:t>
            </a: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 Syncs configured car details, selected paint finishes, and custom specs.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6619875" y="4095750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Live Total Matrix:</a:t>
            </a: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 Instant multi-item price addition calculations directly inside the DOM.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6619875" y="4752975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Frictionless Pruning:</a:t>
            </a: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 Dynamic item removals with low-latency smooth layout transitions.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6334125" y="3438525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6334125" y="4095750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6334125" y="4752975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72CA13-2936-3E5F-0382-042B4A52F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62" y="1874520"/>
            <a:ext cx="5901113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 txBox="1"/>
          <p:nvPr/>
        </p:nvSpPr>
        <p:spPr>
          <a:xfrm>
            <a:off x="571500" y="571500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P6 / PREMIUM PAYMENT UI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571500" y="2986087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A secure checkout flow designed for high-trust premium automotive acquisitions.</a:t>
            </a:r>
            <a:endParaRPr/>
          </a:p>
        </p:txBody>
      </p:sp>
      <p:pic>
        <p:nvPicPr>
          <p:cNvPr id="274" name="Google Shape;27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431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/>
        </p:nvSpPr>
        <p:spPr>
          <a:xfrm>
            <a:off x="1333500" y="2193131"/>
            <a:ext cx="19812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Frictionless Transactions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857250" y="3967162"/>
            <a:ext cx="4667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Cart validated globally via 'et_cart' state string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857250" y="4352925"/>
            <a:ext cx="4667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Interactive layout matching premium payment styles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857250" y="4738687"/>
            <a:ext cx="4667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Neon error alerts on blank or malformed input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857250" y="5124450"/>
            <a:ext cx="4667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Automated success gateway landing mechanics</a:t>
            </a:r>
            <a:endParaRPr/>
          </a:p>
        </p:txBody>
      </p:sp>
      <p:pic>
        <p:nvPicPr>
          <p:cNvPr id="280" name="Google Shape;28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4850" y="2195512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 txBox="1"/>
          <p:nvPr/>
        </p:nvSpPr>
        <p:spPr>
          <a:xfrm>
            <a:off x="571500" y="3967162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571500" y="4352925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571500" y="4738687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571500" y="5124450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E55BF7-14DA-4C8A-C86A-4A9371DF40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852" y="571500"/>
            <a:ext cx="4302633" cy="56868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53005-7B2F-ECCF-474F-D90812F09A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836A81-3AE2-6932-C6FA-A481A2B821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Google Shape;260;p24" descr="image.png">
            <a:extLst>
              <a:ext uri="{FF2B5EF4-FFF2-40B4-BE49-F238E27FC236}">
                <a16:creationId xmlns:a16="http://schemas.microsoft.com/office/drawing/2014/main" id="{9F9A1FE4-09E9-B5B2-28D2-7D68053ADD8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75;p24">
            <a:extLst>
              <a:ext uri="{FF2B5EF4-FFF2-40B4-BE49-F238E27FC236}">
                <a16:creationId xmlns:a16="http://schemas.microsoft.com/office/drawing/2014/main" id="{5A122FAA-F33C-46C0-3A79-E3AC49E43610}"/>
              </a:ext>
            </a:extLst>
          </p:cNvPr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P7 / CONTACT US</a:t>
            </a:r>
            <a:endParaRPr lang="en-US" dirty="0"/>
          </a:p>
        </p:txBody>
      </p:sp>
      <p:sp>
        <p:nvSpPr>
          <p:cNvPr id="7" name="Google Shape;263;p24">
            <a:extLst>
              <a:ext uri="{FF2B5EF4-FFF2-40B4-BE49-F238E27FC236}">
                <a16:creationId xmlns:a16="http://schemas.microsoft.com/office/drawing/2014/main" id="{8F3C580D-1F83-0701-A71F-287C1A1AD0FD}"/>
              </a:ext>
            </a:extLst>
          </p:cNvPr>
          <p:cNvSpPr txBox="1"/>
          <p:nvPr/>
        </p:nvSpPr>
        <p:spPr>
          <a:xfrm>
            <a:off x="581025" y="2405062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ELITE SUPPORT</a:t>
            </a:r>
            <a:endParaRPr dirty="0"/>
          </a:p>
        </p:txBody>
      </p:sp>
      <p:sp>
        <p:nvSpPr>
          <p:cNvPr id="8" name="Google Shape;264;p24">
            <a:extLst>
              <a:ext uri="{FF2B5EF4-FFF2-40B4-BE49-F238E27FC236}">
                <a16:creationId xmlns:a16="http://schemas.microsoft.com/office/drawing/2014/main" id="{F64673F9-A736-E462-737F-FE7DFA720731}"/>
              </a:ext>
            </a:extLst>
          </p:cNvPr>
          <p:cNvSpPr txBox="1"/>
          <p:nvPr/>
        </p:nvSpPr>
        <p:spPr>
          <a:xfrm>
            <a:off x="581025" y="2814637"/>
            <a:ext cx="52292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Connect with the Engine Talk specialists for bespoke acquisitions and technical inquiries. Our team is available 24/7 for our premium members.</a:t>
            </a:r>
            <a:endParaRPr lang="en-US" dirty="0"/>
          </a:p>
        </p:txBody>
      </p:sp>
      <p:pic>
        <p:nvPicPr>
          <p:cNvPr id="9" name="Google Shape;271;p24" descr="image.png">
            <a:extLst>
              <a:ext uri="{FF2B5EF4-FFF2-40B4-BE49-F238E27FC236}">
                <a16:creationId xmlns:a16="http://schemas.microsoft.com/office/drawing/2014/main" id="{D274F1A1-ABC2-7587-7B06-821FAB7322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400526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65;p24">
            <a:extLst>
              <a:ext uri="{FF2B5EF4-FFF2-40B4-BE49-F238E27FC236}">
                <a16:creationId xmlns:a16="http://schemas.microsoft.com/office/drawing/2014/main" id="{EA677DDA-BD71-1416-B56E-0E72CBF63FB5}"/>
              </a:ext>
            </a:extLst>
          </p:cNvPr>
          <p:cNvSpPr txBox="1"/>
          <p:nvPr/>
        </p:nvSpPr>
        <p:spPr>
          <a:xfrm>
            <a:off x="581025" y="3957637"/>
            <a:ext cx="52292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support@enginetalk.auto</a:t>
            </a:r>
            <a:endParaRPr dirty="0"/>
          </a:p>
        </p:txBody>
      </p:sp>
      <p:pic>
        <p:nvPicPr>
          <p:cNvPr id="11" name="Google Shape;272;p24" descr="image.png">
            <a:extLst>
              <a:ext uri="{FF2B5EF4-FFF2-40B4-BE49-F238E27FC236}">
                <a16:creationId xmlns:a16="http://schemas.microsoft.com/office/drawing/2014/main" id="{9B73BC2D-4909-C1D0-D99A-27203C0F4AD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48151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66;p24">
            <a:extLst>
              <a:ext uri="{FF2B5EF4-FFF2-40B4-BE49-F238E27FC236}">
                <a16:creationId xmlns:a16="http://schemas.microsoft.com/office/drawing/2014/main" id="{B8F71C0C-D692-4766-0310-65BD240E4778}"/>
              </a:ext>
            </a:extLst>
          </p:cNvPr>
          <p:cNvSpPr txBox="1"/>
          <p:nvPr/>
        </p:nvSpPr>
        <p:spPr>
          <a:xfrm>
            <a:off x="581025" y="4433887"/>
            <a:ext cx="52292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+1 (800) LUX-AUTO</a:t>
            </a:r>
            <a:endParaRPr dirty="0"/>
          </a:p>
        </p:txBody>
      </p:sp>
      <p:pic>
        <p:nvPicPr>
          <p:cNvPr id="273" name="Google Shape;27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957762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67;p24">
            <a:extLst>
              <a:ext uri="{FF2B5EF4-FFF2-40B4-BE49-F238E27FC236}">
                <a16:creationId xmlns:a16="http://schemas.microsoft.com/office/drawing/2014/main" id="{80AEDD81-18AE-1B3E-5C2E-02FB1F507727}"/>
              </a:ext>
            </a:extLst>
          </p:cNvPr>
          <p:cNvSpPr txBox="1"/>
          <p:nvPr/>
        </p:nvSpPr>
        <p:spPr>
          <a:xfrm>
            <a:off x="581025" y="4910137"/>
            <a:ext cx="52292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Silicon Valley, CA</a:t>
            </a:r>
            <a:endParaRPr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80CF10E-107D-910E-9C2B-5190AD7F9F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0" y="740665"/>
            <a:ext cx="6177534" cy="535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36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4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05 / CHALLENGES &amp; RESOLUTIONS</a:t>
            </a:r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2" name="Google Shape;292;p24"/>
          <p:cNvGraphicFramePr/>
          <p:nvPr/>
        </p:nvGraphicFramePr>
        <p:xfrm>
          <a:off x="571500" y="2867025"/>
          <a:ext cx="11049000" cy="2133600"/>
        </p:xfrm>
        <a:graphic>
          <a:graphicData uri="http://schemas.openxmlformats.org/drawingml/2006/table">
            <a:tbl>
              <a:tblPr firstRow="1" bandRow="1">
                <a:noFill/>
                <a:tableStyleId>{B26090E7-5C05-4F52-A8F1-729C7F8851A4}</a:tableStyleId>
              </a:tblPr>
              <a:tblGrid>
                <a:gridCol w="268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EFF9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Challenge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EFF9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Resolution Strategy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EFF9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Outcome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Persistence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Unified LocalStorage key 'et_cart'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Serverless session continuity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Dynamic Swapping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JS Async fade transitions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Seamless 300ms rendering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Neon UI Fidelity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Media-query optimized CSS filters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Low-latency visual consistency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3" name="Google Shape;293;p24"/>
          <p:cNvSpPr/>
          <p:nvPr/>
        </p:nvSpPr>
        <p:spPr>
          <a:xfrm>
            <a:off x="571500" y="3386137"/>
            <a:ext cx="26897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3261270" y="3386137"/>
            <a:ext cx="436483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7626101" y="3386137"/>
            <a:ext cx="39943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571500" y="3919537"/>
            <a:ext cx="26897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3261270" y="3919537"/>
            <a:ext cx="436483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7626101" y="3919537"/>
            <a:ext cx="39943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571500" y="4452937"/>
            <a:ext cx="26897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3261270" y="4452937"/>
            <a:ext cx="436483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4"/>
          <p:cNvSpPr/>
          <p:nvPr/>
        </p:nvSpPr>
        <p:spPr>
          <a:xfrm>
            <a:off x="7626101" y="4452937"/>
            <a:ext cx="39943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571500" y="4986337"/>
            <a:ext cx="26897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/>
          <p:nvPr/>
        </p:nvSpPr>
        <p:spPr>
          <a:xfrm>
            <a:off x="3261270" y="4986337"/>
            <a:ext cx="436483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7626101" y="4986337"/>
            <a:ext cx="39943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28837"/>
            <a:ext cx="5286375" cy="1614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33825"/>
            <a:ext cx="5286375" cy="1614487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06 / FUTURE ROADMAP</a:t>
            </a:r>
            <a:endParaRPr/>
          </a:p>
        </p:txBody>
      </p:sp>
      <p:sp>
        <p:nvSpPr>
          <p:cNvPr id="313" name="Google Shape;313;p25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 txBox="1"/>
          <p:nvPr/>
        </p:nvSpPr>
        <p:spPr>
          <a:xfrm>
            <a:off x="6334125" y="2945606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STRATEGIC EXPANSION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771525" y="2328862"/>
            <a:ext cx="5130641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05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771525" y="3090862"/>
            <a:ext cx="4886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Responsive Pages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771525" y="4133850"/>
            <a:ext cx="5130641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12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771525" y="4895850"/>
            <a:ext cx="4886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Exotic Models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6619875" y="3536156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Phase 2: Backend</a:t>
            </a: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 - Node.js &amp; MongoDB integration.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6619875" y="3921918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Phase 3: Analytics</a:t>
            </a: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 - Dashboard for conversion metrics.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6619875" y="4307681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Phase 4: 3D Viewer</a:t>
            </a: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 - WebGL interactive model viewer.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6334125" y="3536156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323" name="Google Shape;323;p25"/>
          <p:cNvSpPr txBox="1"/>
          <p:nvPr/>
        </p:nvSpPr>
        <p:spPr>
          <a:xfrm>
            <a:off x="6334125" y="3921918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324" name="Google Shape;324;p25"/>
          <p:cNvSpPr txBox="1"/>
          <p:nvPr/>
        </p:nvSpPr>
        <p:spPr>
          <a:xfrm>
            <a:off x="6334125" y="4307681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6"/>
          <p:cNvSpPr txBox="1"/>
          <p:nvPr/>
        </p:nvSpPr>
        <p:spPr>
          <a:xfrm>
            <a:off x="3452383" y="1643253"/>
            <a:ext cx="461057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 dirty="0"/>
          </a:p>
        </p:txBody>
      </p:sp>
      <p:pic>
        <p:nvPicPr>
          <p:cNvPr id="2" name="Google Shape;279;p25" descr="image.png">
            <a:extLst>
              <a:ext uri="{FF2B5EF4-FFF2-40B4-BE49-F238E27FC236}">
                <a16:creationId xmlns:a16="http://schemas.microsoft.com/office/drawing/2014/main" id="{E5417844-337B-8D65-3075-26C0DE3EFDC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565" y="3538917"/>
            <a:ext cx="5397817" cy="193031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81;p25">
            <a:extLst>
              <a:ext uri="{FF2B5EF4-FFF2-40B4-BE49-F238E27FC236}">
                <a16:creationId xmlns:a16="http://schemas.microsoft.com/office/drawing/2014/main" id="{32FF6F06-160F-9AB2-5C26-0622DA5E37CC}"/>
              </a:ext>
            </a:extLst>
          </p:cNvPr>
          <p:cNvSpPr txBox="1"/>
          <p:nvPr/>
        </p:nvSpPr>
        <p:spPr>
          <a:xfrm>
            <a:off x="626744" y="4074053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KRISHNA</a:t>
            </a:r>
            <a:endParaRPr dirty="0"/>
          </a:p>
        </p:txBody>
      </p:sp>
      <p:sp>
        <p:nvSpPr>
          <p:cNvPr id="282" name="Google Shape;282;p25"/>
          <p:cNvSpPr txBox="1"/>
          <p:nvPr/>
        </p:nvSpPr>
        <p:spPr>
          <a:xfrm>
            <a:off x="591121" y="4686150"/>
            <a:ext cx="4686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CCFF00"/>
                </a:solidFill>
                <a:latin typeface="Syncopate"/>
                <a:ea typeface="Syncopate"/>
                <a:cs typeface="Syncopate"/>
                <a:sym typeface="Syncopate"/>
              </a:rPr>
              <a:t>ROLL NUMBER: 2510992866</a:t>
            </a:r>
            <a:endParaRPr dirty="0"/>
          </a:p>
        </p:txBody>
      </p:sp>
      <p:sp>
        <p:nvSpPr>
          <p:cNvPr id="4" name="Google Shape;283;p25">
            <a:extLst>
              <a:ext uri="{FF2B5EF4-FFF2-40B4-BE49-F238E27FC236}">
                <a16:creationId xmlns:a16="http://schemas.microsoft.com/office/drawing/2014/main" id="{46C3BBED-8B1C-DB7A-2A2A-BB6E6CA50053}"/>
              </a:ext>
            </a:extLst>
          </p:cNvPr>
          <p:cNvSpPr txBox="1"/>
          <p:nvPr/>
        </p:nvSpPr>
        <p:spPr>
          <a:xfrm>
            <a:off x="627697" y="5018191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 CSE with AI &amp; ML | Semester II</a:t>
            </a:r>
            <a:endParaRPr dirty="0"/>
          </a:p>
        </p:txBody>
      </p:sp>
      <p:pic>
        <p:nvPicPr>
          <p:cNvPr id="5" name="Google Shape;280;p25" descr="image.png">
            <a:extLst>
              <a:ext uri="{FF2B5EF4-FFF2-40B4-BE49-F238E27FC236}">
                <a16:creationId xmlns:a16="http://schemas.microsoft.com/office/drawing/2014/main" id="{7418B947-1E9C-E636-3EF5-3DDB1CB4D6C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87416" y="3538917"/>
            <a:ext cx="5276850" cy="193031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84;p25">
            <a:extLst>
              <a:ext uri="{FF2B5EF4-FFF2-40B4-BE49-F238E27FC236}">
                <a16:creationId xmlns:a16="http://schemas.microsoft.com/office/drawing/2014/main" id="{FE51DC57-0A85-DBCF-08EE-80C350D3CC20}"/>
              </a:ext>
            </a:extLst>
          </p:cNvPr>
          <p:cNvSpPr txBox="1"/>
          <p:nvPr/>
        </p:nvSpPr>
        <p:spPr>
          <a:xfrm>
            <a:off x="6254496" y="3966019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CHAITANYA BANSAL</a:t>
            </a:r>
            <a:endParaRPr dirty="0"/>
          </a:p>
        </p:txBody>
      </p:sp>
      <p:sp>
        <p:nvSpPr>
          <p:cNvPr id="285" name="Google Shape;285;p25"/>
          <p:cNvSpPr txBox="1"/>
          <p:nvPr/>
        </p:nvSpPr>
        <p:spPr>
          <a:xfrm>
            <a:off x="6227064" y="4668583"/>
            <a:ext cx="4686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CCFF00"/>
                </a:solidFill>
                <a:latin typeface="Syncopate"/>
                <a:ea typeface="Syncopate"/>
                <a:cs typeface="Syncopate"/>
                <a:sym typeface="Syncopate"/>
              </a:rPr>
              <a:t>ROLL NUMBER: 2510992870</a:t>
            </a:r>
            <a:endParaRPr dirty="0"/>
          </a:p>
        </p:txBody>
      </p:sp>
      <p:sp>
        <p:nvSpPr>
          <p:cNvPr id="286" name="Google Shape;286;p25"/>
          <p:cNvSpPr txBox="1"/>
          <p:nvPr/>
        </p:nvSpPr>
        <p:spPr>
          <a:xfrm>
            <a:off x="6272784" y="5027866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 CSE with AI &amp; ML | Semester II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596</Words>
  <Application>Microsoft Office PowerPoint</Application>
  <PresentationFormat>Widescreen</PresentationFormat>
  <Paragraphs>137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Urbanist Black</vt:lpstr>
      <vt:lpstr>Urbanist Medium</vt:lpstr>
      <vt:lpstr>Calibri</vt:lpstr>
      <vt:lpstr>Urbanist</vt:lpstr>
      <vt:lpstr>Syncopate</vt:lpstr>
      <vt:lpstr>Arial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Krishna gupta</cp:lastModifiedBy>
  <cp:revision>5</cp:revision>
  <dcterms:modified xsi:type="dcterms:W3CDTF">2026-05-20T16:28:27Z</dcterms:modified>
</cp:coreProperties>
</file>